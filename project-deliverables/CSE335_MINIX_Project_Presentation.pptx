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366eb24e76b496b" /><Relationship Type="http://schemas.openxmlformats.org/officeDocument/2006/relationships/extended-properties" Target="/docProps/app.xml" Id="R3f7134dff76d41e6" /><Relationship Type="http://schemas.openxmlformats.org/officeDocument/2006/relationships/officeDocument" Target="/ppt/presentation.xml" Id="Rd8496434e22a4eb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4b380b98755420f"/>
  </p:sldMasterIdLst>
  <p:notesMasterIdLst>
    <p:notesMasterId xmlns:r="http://schemas.openxmlformats.org/officeDocument/2006/relationships" r:id="Rcfc0903e4e7e47f2"/>
  </p:notesMasterIdLst>
  <p:sldIdLst>
    <p:sldId xmlns:r="http://schemas.openxmlformats.org/officeDocument/2006/relationships" id="256" r:id="R064269323a084132"/>
    <p:sldId xmlns:r="http://schemas.openxmlformats.org/officeDocument/2006/relationships" id="257" r:id="R8560bc804a674dd2"/>
    <p:sldId xmlns:r="http://schemas.openxmlformats.org/officeDocument/2006/relationships" id="258" r:id="Rc192cac7cc444365"/>
    <p:sldId xmlns:r="http://schemas.openxmlformats.org/officeDocument/2006/relationships" id="259" r:id="R83901da70cc7466e"/>
    <p:sldId xmlns:r="http://schemas.openxmlformats.org/officeDocument/2006/relationships" id="260" r:id="R4d0dc956785b4784"/>
    <p:sldId xmlns:r="http://schemas.openxmlformats.org/officeDocument/2006/relationships" id="261" r:id="R6fd2e564511a4754"/>
    <p:sldId xmlns:r="http://schemas.openxmlformats.org/officeDocument/2006/relationships" id="262" r:id="R02a296448c194650"/>
    <p:sldId xmlns:r="http://schemas.openxmlformats.org/officeDocument/2006/relationships" id="263" r:id="Rad7cf5b0be564956"/>
    <p:sldId xmlns:r="http://schemas.openxmlformats.org/officeDocument/2006/relationships" id="264" r:id="R67e75609af8d4e37"/>
    <p:sldId xmlns:r="http://schemas.openxmlformats.org/officeDocument/2006/relationships" id="265" r:id="Ref6738bea4fc4cb9"/>
    <p:sldId xmlns:r="http://schemas.openxmlformats.org/officeDocument/2006/relationships" id="266" r:id="R6d7f3a79785e438f"/>
    <p:sldId xmlns:r="http://schemas.openxmlformats.org/officeDocument/2006/relationships" id="267" r:id="R27d50c58439d481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51b8130b1b84325" /><Relationship Type="http://schemas.openxmlformats.org/officeDocument/2006/relationships/slideMaster" Target="/ppt/slideMasters/slideMaster1.xml" Id="Ra4b380b98755420f" /><Relationship Type="http://schemas.openxmlformats.org/officeDocument/2006/relationships/notesMaster" Target="/ppt/notesMasters/notesMaster1.xml" Id="Rcfc0903e4e7e47f2" /><Relationship Type="http://schemas.openxmlformats.org/officeDocument/2006/relationships/presProps" Target="/ppt/presProps.xml" Id="Rff0810b744a44757" /><Relationship Type="http://schemas.openxmlformats.org/officeDocument/2006/relationships/tableStyles" Target="/ppt/tableStyles.xml" Id="R7f706adb1ed64500" /><Relationship Type="http://schemas.openxmlformats.org/officeDocument/2006/relationships/slide" Target="/ppt/slides/slide1.xml" Id="R064269323a084132" /><Relationship Type="http://schemas.openxmlformats.org/officeDocument/2006/relationships/slide" Target="/ppt/slides/slide2.xml" Id="R8560bc804a674dd2" /><Relationship Type="http://schemas.openxmlformats.org/officeDocument/2006/relationships/slide" Target="/ppt/slides/slide3.xml" Id="Rc192cac7cc444365" /><Relationship Type="http://schemas.openxmlformats.org/officeDocument/2006/relationships/slide" Target="/ppt/slides/slide4.xml" Id="R83901da70cc7466e" /><Relationship Type="http://schemas.openxmlformats.org/officeDocument/2006/relationships/slide" Target="/ppt/slides/slide5.xml" Id="R4d0dc956785b4784" /><Relationship Type="http://schemas.openxmlformats.org/officeDocument/2006/relationships/slide" Target="/ppt/slides/slide6.xml" Id="R6fd2e564511a4754" /><Relationship Type="http://schemas.openxmlformats.org/officeDocument/2006/relationships/slide" Target="/ppt/slides/slide7.xml" Id="R02a296448c194650" /><Relationship Type="http://schemas.openxmlformats.org/officeDocument/2006/relationships/slide" Target="/ppt/slides/slide8.xml" Id="Rad7cf5b0be564956" /><Relationship Type="http://schemas.openxmlformats.org/officeDocument/2006/relationships/slide" Target="/ppt/slides/slide9.xml" Id="R67e75609af8d4e37" /><Relationship Type="http://schemas.openxmlformats.org/officeDocument/2006/relationships/slide" Target="/ppt/slides/slide10.xml" Id="Ref6738bea4fc4cb9" /><Relationship Type="http://schemas.openxmlformats.org/officeDocument/2006/relationships/slide" Target="/ppt/slides/slide11.xml" Id="R6d7f3a79785e438f" /><Relationship Type="http://schemas.openxmlformats.org/officeDocument/2006/relationships/slide" Target="/ppt/slides/slide12.xml" Id="R27d50c58439d481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0f7fe0a703c48e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faf81416fd74278" /><Relationship Type="http://schemas.openxmlformats.org/officeDocument/2006/relationships/notesMaster" Target="/ppt/notesMasters/notesMaster1.xml" Id="R53f6292d9d0b435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b0642b2479a41a2" /><Relationship Type="http://schemas.openxmlformats.org/officeDocument/2006/relationships/notesMaster" Target="/ppt/notesMasters/notesMaster1.xml" Id="R032539513711478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307be2ec6f34316" /><Relationship Type="http://schemas.openxmlformats.org/officeDocument/2006/relationships/notesMaster" Target="/ppt/notesMasters/notesMaster1.xml" Id="Rc7fe3aa7df2e4d0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5c928138b5c4f27" /><Relationship Type="http://schemas.openxmlformats.org/officeDocument/2006/relationships/notesMaster" Target="/ppt/notesMasters/notesMaster1.xml" Id="Rdc5b6f0f33a94a3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49b29f7c91f41e3" /><Relationship Type="http://schemas.openxmlformats.org/officeDocument/2006/relationships/notesMaster" Target="/ppt/notesMasters/notesMaster1.xml" Id="Re0e5a1a6c8cb447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d53a20155bd4a4f" /><Relationship Type="http://schemas.openxmlformats.org/officeDocument/2006/relationships/notesMaster" Target="/ppt/notesMasters/notesMaster1.xml" Id="Rf2cea0733df540f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498f35e05c846b9" /><Relationship Type="http://schemas.openxmlformats.org/officeDocument/2006/relationships/notesMaster" Target="/ppt/notesMasters/notesMaster1.xml" Id="R1f781ce1e631496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f4d396339bd44bd" /><Relationship Type="http://schemas.openxmlformats.org/officeDocument/2006/relationships/notesMaster" Target="/ppt/notesMasters/notesMaster1.xml" Id="R79c74ce9f82c4f8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76a6c9c529642c7" /><Relationship Type="http://schemas.openxmlformats.org/officeDocument/2006/relationships/notesMaster" Target="/ppt/notesMasters/notesMaster1.xml" Id="Re83f76747c0c41e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f0d408fbb8f43ba" /><Relationship Type="http://schemas.openxmlformats.org/officeDocument/2006/relationships/notesMaster" Target="/ppt/notesMasters/notesMaster1.xml" Id="Rd1abba48f6f44cb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2c978c874474e3a" /><Relationship Type="http://schemas.openxmlformats.org/officeDocument/2006/relationships/notesMaster" Target="/ppt/notesMasters/notesMaster1.xml" Id="Rd0556553821d444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7a2b9ee2d374ce7" /><Relationship Type="http://schemas.openxmlformats.org/officeDocument/2006/relationships/notesMaster" Target="/ppt/notesMasters/notesMaster1.xml" Id="R59d29208e55146d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07316a9a954a3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199eac497c043e1" /><Relationship Type="http://schemas.openxmlformats.org/officeDocument/2006/relationships/slideLayout" Target="/ppt/slideLayouts/slideLayout1.xml" Id="R55045c9dbcea493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5045c9dbcea493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84f7dadec44b13" /><Relationship Type="http://schemas.openxmlformats.org/officeDocument/2006/relationships/notesSlide" Target="/ppt/notesSlides/notesSlide1.xml" Id="Re41de64ee92f442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ff5977826641d3" /><Relationship Type="http://schemas.openxmlformats.org/officeDocument/2006/relationships/notesSlide" Target="/ppt/notesSlides/notesSlide2.xml" Id="R0a8caabcf83e47c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98b45c09c243cd" /><Relationship Type="http://schemas.openxmlformats.org/officeDocument/2006/relationships/notesSlide" Target="/ppt/notesSlides/notesSlide3.xml" Id="R08721686ce31449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f57ee7c0d9493d" /><Relationship Type="http://schemas.openxmlformats.org/officeDocument/2006/relationships/notesSlide" Target="/ppt/notesSlides/notesSlide4.xml" Id="R51c84747a9de47c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bdd9d4dc554235" /><Relationship Type="http://schemas.openxmlformats.org/officeDocument/2006/relationships/chart" Target="/ppt/slides/charts/chart1.xml" Id="R46e1e0880aa74b38" /><Relationship Type="http://schemas.openxmlformats.org/officeDocument/2006/relationships/notesSlide" Target="/ppt/notesSlides/notesSlide5.xml" Id="R18fb9ced87634a0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aa311df5b04555" /><Relationship Type="http://schemas.openxmlformats.org/officeDocument/2006/relationships/notesSlide" Target="/ppt/notesSlides/notesSlide6.xml" Id="R89635a59cbe6419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1c8c56798246b1" /><Relationship Type="http://schemas.openxmlformats.org/officeDocument/2006/relationships/chart" Target="/ppt/slides/charts/chart2.xml" Id="R0f32e7f3951441ea" /><Relationship Type="http://schemas.openxmlformats.org/officeDocument/2006/relationships/notesSlide" Target="/ppt/notesSlides/notesSlide7.xml" Id="R59f3868113d9433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17927047d84b35" /><Relationship Type="http://schemas.openxmlformats.org/officeDocument/2006/relationships/notesSlide" Target="/ppt/notesSlides/notesSlide8.xml" Id="R131a466ec0d848d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69a1c3ee9f41bd" /><Relationship Type="http://schemas.openxmlformats.org/officeDocument/2006/relationships/notesSlide" Target="/ppt/notesSlides/notesSlide9.xml" Id="R8e9ec95b595a46c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07d91558254045" /><Relationship Type="http://schemas.openxmlformats.org/officeDocument/2006/relationships/notesSlide" Target="/ppt/notesSlides/notesSlide10.xml" Id="R287428c56d04491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07ccb067804553" /><Relationship Type="http://schemas.openxmlformats.org/officeDocument/2006/relationships/notesSlide" Target="/ppt/notesSlides/notesSlide11.xml" Id="R3daf4021e7994e0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c86725fb0e4ca2" /><Relationship Type="http://schemas.openxmlformats.org/officeDocument/2006/relationships/notesSlide" Target="/ppt/notesSlides/notesSlide12.xml" Id="R0fe3d303a5324d4d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Turnaround</c:v>
          </c:tx>
          <c:spPr>
            <a:solidFill xmlns:a="http://schemas.openxmlformats.org/drawingml/2006/main">
              <a:srgbClr val="6DCBF4"/>
            </a:solidFill>
          </c:spPr>
          <c:cat>
            <c:strLit>
              <c:ptCount val="4"/>
              <c:pt idx="0">
                <c:v>RR</c:v>
              </c:pt>
              <c:pt idx="1">
                <c:v>SJF</c:v>
              </c:pt>
              <c:pt idx="2">
                <c:v>Priority</c:v>
              </c:pt>
              <c:pt idx="3">
                <c:v>MLFQ</c:v>
              </c:pt>
            </c:strLit>
          </c:cat>
          <c:val>
            <c:numLit>
              <c:formatCode>General</c:formatCode>
              <c:ptCount val="4"/>
              <c:pt idx="0">
                <c:v>185</c:v>
              </c:pt>
              <c:pt idx="1">
                <c:v>137</c:v>
              </c:pt>
              <c:pt idx="2">
                <c:v>155</c:v>
              </c:pt>
              <c:pt idx="3">
                <c:v>191</c:v>
              </c:pt>
            </c:numLit>
          </c:val>
        </c:ser>
        <c:ser>
          <c:idx val="1"/>
          <c:order val="1"/>
          <c:tx>
            <c:v>Waiting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4"/>
              <c:pt idx="0">
                <c:v>RR</c:v>
              </c:pt>
              <c:pt idx="1">
                <c:v>SJF</c:v>
              </c:pt>
              <c:pt idx="2">
                <c:v>Priority</c:v>
              </c:pt>
              <c:pt idx="3">
                <c:v>MLFQ</c:v>
              </c:pt>
            </c:strLit>
          </c:cat>
          <c:val>
            <c:numLit>
              <c:formatCode>General</c:formatCode>
              <c:ptCount val="4"/>
              <c:pt idx="0">
                <c:v>133</c:v>
              </c:pt>
              <c:pt idx="1">
                <c:v>85</c:v>
              </c:pt>
              <c:pt idx="2">
                <c:v>103</c:v>
              </c:pt>
              <c:pt idx="3">
                <c:v>139</c:v>
              </c:pt>
            </c:numLit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22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  <c:majorUnit val="50"/>
      </c:valAx>
    </c:plotArea>
    <c:legend>
      <c:legendPos val="b"/>
      <c:overlay val="0"/>
    </c:legend>
    <c:plotVisOnly val="1"/>
  </c:chart>
</c:chartSpace>
</file>

<file path=ppt/slides/charts/chart2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FIFO</c:v>
          </c:tx>
          <c:spPr>
            <a:solidFill xmlns:a="http://schemas.openxmlformats.org/drawingml/2006/main">
              <a:srgbClr val="6DCBF4"/>
            </a:solidFill>
            <a:ln xmlns:a="http://schemas.openxmlformats.org/drawingml/2006/main" w="28575">
              <a:solidFill>
                <a:srgbClr val="6DCBF4"/>
              </a:solidFill>
            </a:ln>
          </c:spPr>
          <c:marker>
            <c:symbol val="none"/>
          </c:marker>
          <c:cat>
            <c:strLit>
              <c:ptCount val="4"/>
              <c:pt idx="0">
                <c:v>1 KiB</c:v>
              </c:pt>
              <c:pt idx="1">
                <c:v>2 KiB</c:v>
              </c:pt>
              <c:pt idx="2">
                <c:v>4 KiB</c:v>
              </c:pt>
              <c:pt idx="3">
                <c:v>8 KiB</c:v>
              </c:pt>
            </c:strLit>
          </c:cat>
          <c:val>
            <c:numLit>
              <c:formatCode>General</c:formatCode>
              <c:ptCount val="4"/>
              <c:pt idx="0">
                <c:v>6937</c:v>
              </c:pt>
              <c:pt idx="1">
                <c:v>4735</c:v>
              </c:pt>
              <c:pt idx="2">
                <c:v>2666</c:v>
              </c:pt>
              <c:pt idx="3">
                <c:v>1378</c:v>
              </c:pt>
            </c:numLit>
          </c:val>
        </c:ser>
        <c:ser>
          <c:idx val="1"/>
          <c:order val="1"/>
          <c:tx>
            <c:v>LRU</c:v>
          </c:tx>
          <c:spPr>
            <a:solidFill xmlns:a="http://schemas.openxmlformats.org/drawingml/2006/main">
              <a:srgbClr val="3D8DFF"/>
            </a:solidFill>
            <a:ln xmlns:a="http://schemas.openxmlformats.org/drawingml/2006/main" w="28575">
              <a:solidFill>
                <a:srgbClr val="3D8DFF"/>
              </a:solidFill>
            </a:ln>
          </c:spPr>
          <c:marker>
            <c:symbol val="none"/>
          </c:marker>
          <c:cat>
            <c:strLit>
              <c:ptCount val="4"/>
              <c:pt idx="0">
                <c:v>1 KiB</c:v>
              </c:pt>
              <c:pt idx="1">
                <c:v>2 KiB</c:v>
              </c:pt>
              <c:pt idx="2">
                <c:v>4 KiB</c:v>
              </c:pt>
              <c:pt idx="3">
                <c:v>8 KiB</c:v>
              </c:pt>
            </c:strLit>
          </c:cat>
          <c:val>
            <c:numLit>
              <c:formatCode>General</c:formatCode>
              <c:ptCount val="4"/>
              <c:pt idx="0">
                <c:v>6791</c:v>
              </c:pt>
              <c:pt idx="1">
                <c:v>4047</c:v>
              </c:pt>
              <c:pt idx="2">
                <c:v>1655</c:v>
              </c:pt>
              <c:pt idx="3">
                <c:v>1064</c:v>
              </c:pt>
            </c:numLit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8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  <c:majorUnit val="2000"/>
      </c:valAx>
    </c:plotArea>
    <c:legend>
      <c:legendPos val="b"/>
      <c:overlay val="0"/>
    </c:legend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F46671-247E-43D8-B039-88392C09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CSE335  ·  SUMMER 2026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7D769DE7-1C14-43E7-BCBD-CEF0A6F55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33550"/>
            <a:ext cx="99060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Scheduling, paging,</a:t>
            </a:r>
          </a:p>
          <a:p xmlns:a="http://schemas.openxmlformats.org/drawingml/2006/main">
            <a:pPr algn="l">
              <a:defRPr sz="4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extent-aware storage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F7F955-CAE9-4F41-B608-DF47B134B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29050"/>
            <a:ext cx="447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90652C-E5B0-45F8-8654-A94D5AC14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762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Three reproducible experiments inside MINIX 3.3.0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1208DE-C9EC-4BDB-8CF3-70A5B6D6F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912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Jana · Mohamed · Abdelrahman · Mostafa · Rodina Mohamed (23P0191)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BB1D5F-C163-4FB9-B876-4CF146E23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150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Source · tests · report · presentation</a:t>
            </a:r>
          </a:p>
        </p:txBody>
      </p:sp>
    </p:spTree>
    <p:extLst>
      <p:ext uri="{BB962C8B-B14F-4D97-AF65-F5344CB8AC3E}">
        <p14:creationId xmlns:p14="http://schemas.microsoft.com/office/powerpoint/2010/main" val="145776963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3F8AC9-B491-4C47-AB00-FC06D0796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PROJECT SCOPE</a:t>
            </a:r>
          </a:p>
        </p:txBody>
      </p:sp>
      <p:sp>
        <p:nvSpPr>
          <p:cNvPr id="2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59FFD4E9-5691-41CA-A882-4F8977DBB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clean baseline, three controlled interventions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5327BC-1DD0-4019-BEED-5E500562B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30F66B-34D3-4B9B-9EE1-8C20BB373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47FCE5-3FFF-4D74-83E3-E14817474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24050"/>
            <a:ext cx="34290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0476D7-123A-40DC-AE15-40137A5A7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CF9A2A-658E-42D8-9C33-166054D7C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3009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4 policies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9E9D0F-9090-41B6-BC07-0709A766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57525"/>
            <a:ext cx="300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RR · SJF · priority · MLFQ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78FB54-9125-44CD-82B8-EA46272B3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924050"/>
            <a:ext cx="34290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B5A0C0-767F-4A3A-B53D-C06EDCF27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145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BFA28C-5135-42AE-8FC2-5547E0279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47925"/>
            <a:ext cx="3009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 policies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E1EF4D-F399-4349-BD67-260380213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057525"/>
            <a:ext cx="300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FIFO · exact LRU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7C4AC3-1437-40C2-9FEE-73EC0CDF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924050"/>
            <a:ext cx="34290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3FAE14-4380-4B68-96A4-73A6EB9C8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1145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9A0DCA-CD3F-46E8-9429-54DAA2457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47925"/>
            <a:ext cx="3009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6 extents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34566F-03F3-4B2A-8251-2A94F03FA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057525"/>
            <a:ext cx="300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1 · 2 · 4 · 8 · 16 · 32 blocks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59A1C1-8B3B-4EFD-A6C5-1487E32D1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529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Baseline tag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75A67E-5A51-429B-A529-EA93C1CF0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3865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baseline-v3.3.0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D2A358-3E8A-4F51-B6F9-6A4AC6119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152900"/>
            <a:ext cx="73533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Every experiment reads text configuration and writes CSV. All three native matrices and their validation log are archived with the submission.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CBC0AA-6F22-4F01-8FE7-6F7DC9835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Repository history makes every change reviewable against the untouched release.</a:t>
            </a:r>
          </a:p>
        </p:txBody>
      </p:sp>
    </p:spTree>
    <p:extLst>
      <p:ext uri="{BB962C8B-B14F-4D97-AF65-F5344CB8AC3E}">
        <p14:creationId xmlns:p14="http://schemas.microsoft.com/office/powerpoint/2010/main" val="139375099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5D3A5E-A832-4617-8CA1-FE7E3F476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ARCHITECTURE</a:t>
            </a:r>
          </a:p>
        </p:txBody>
      </p:sp>
      <p:sp>
        <p:nvSpPr>
          <p:cNvPr id="2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9325B99A-CCDB-4A8F-AA2B-DDB89F6EF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design respects MINIX subsystem boundaries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F2AB86-4424-43C1-9601-EF189E782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1D62C0-165C-4CF2-8CF3-76DCE48A2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0B6108-409A-4ADB-B97D-ADB56587D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28800"/>
            <a:ext cx="3524250" cy="318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D79373-D7A9-4A21-B5B7-7A55A3E86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3067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REAL WORKERS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80BA8F-6533-4BFC-9618-84C85CC44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30670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fork + pipes</a:t>
            </a:r>
          </a:p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controlled dispatch</a:t>
            </a:r>
          </a:p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logical policy metrics</a:t>
            </a:r>
          </a:p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wall-time confirmation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F49CAA-0692-4C6F-8477-5B6CEAC29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828800"/>
            <a:ext cx="3524250" cy="318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E3D090-3B60-48ED-8A39-9EBF29118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2076450"/>
            <a:ext cx="3067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SOFTWARE VM MODEL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A93A20-7C35-4D9C-9E2E-35FAB71BA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2609850"/>
            <a:ext cx="30670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sparse hierarchy</a:t>
            </a:r>
          </a:p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byte-address trace</a:t>
            </a:r>
          </a:p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FIFO / LRU frames</a:t>
            </a:r>
          </a:p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native CSV evidence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BCC6DA-61F3-4FAB-AD84-A65B86198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828800"/>
            <a:ext cx="3524250" cy="318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1B927C-96DD-4BF3-9222-9329F6A9B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076450"/>
            <a:ext cx="3067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REAL MFS PATH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8C586D-FE23-4067-BF6C-3CB877A94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09850"/>
            <a:ext cx="30670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zone bitmap scan</a:t>
            </a:r>
          </a:p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exact allocation origin</a:t>
            </a:r>
          </a:p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safe fallback</a:t>
            </a:r>
          </a:p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unmount counters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9ED43B-5BBD-4A15-AA54-50DD9706A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14950"/>
            <a:ext cx="7372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Controlled experiment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81DE17-A74D-4331-96A6-B860813BC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31495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Production allocation policy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584BB1-820A-4C94-B9D8-75282C843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The configurable paging hierarchy does not claim to reprogram x86 MMU geometry.</a:t>
            </a:r>
          </a:p>
        </p:txBody>
      </p:sp>
    </p:spTree>
    <p:extLst>
      <p:ext uri="{BB962C8B-B14F-4D97-AF65-F5344CB8AC3E}">
        <p14:creationId xmlns:p14="http://schemas.microsoft.com/office/powerpoint/2010/main" val="78221525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1C85FA-1AA2-4A21-83A6-62B154E1E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1</a:t>
            </a:r>
          </a:p>
        </p:txBody>
      </p:sp>
      <p:sp>
        <p:nvSpPr>
          <p:cNvPr id="2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CC9A6D76-301E-4DA5-AC61-E93A515E7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Real child processes make policy effects observable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2E1E9D-376B-4398-BD0F-46BD0A146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041E9C-AE90-42BE-B3E4-9CDFD9F7B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2DED39-8487-45CE-8DC9-5F484BB3C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09750"/>
            <a:ext cx="2914650" cy="3352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4B13FB-2E45-4FDD-AA21-E4FEFA676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238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PARENT</a:t>
            </a:r>
          </a:p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DISPATCHER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121262-A2C4-4D1A-BD38-26DA245A3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23431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select policy</a:t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advance logical time</a:t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record metrics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562162-E146-40F9-A309-E6900DFC6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752600"/>
            <a:ext cx="2571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DDAC94-ECEA-45CC-B077-AB9A7F223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9050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WORKER P1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BD94B3-414F-49F6-B61F-1DA786837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1907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CPU work → reply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8245C7-B647-4BAC-8DA6-AA8298E19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143125"/>
            <a:ext cx="9048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929317-C892-4685-B55F-8AD83EB3E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76550"/>
            <a:ext cx="2571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2504FB-3782-4249-A7B3-CD364DD65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0289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WORKER P2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0EA682-EE62-4630-ADF7-0DC3B9C81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3147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CPU work → reply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20769F-D3F8-4EAE-A68E-BBE0E7DB2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267075"/>
            <a:ext cx="9048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B90921-B1FB-409C-9357-6AE320CD4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000500"/>
            <a:ext cx="2571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C503D4-8507-4BE8-8886-9E5E51374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1529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WORKER P3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2BD8C6-7705-41EA-BDE3-E8FB74D80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4386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CPU work → reply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06092E-2C07-426B-BF64-DF064A8AA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391025"/>
            <a:ext cx="9048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7E2908-4125-4E36-AC31-D53458CEA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88595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Logical clock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D88ACE-9686-470D-8FF6-B2EEB5CF6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381250"/>
            <a:ext cx="29527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turnaround</a:t>
            </a:r>
          </a:p>
          <a:p xmlns:a="http://schemas.openxmlformats.org/drawingml/2006/main">
            <a: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waiting</a:t>
            </a:r>
          </a:p>
          <a:p xmlns:a="http://schemas.openxmlformats.org/drawingml/2006/main">
            <a: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response</a:t>
            </a:r>
          </a:p>
          <a:p xmlns:a="http://schemas.openxmlformats.org/drawingml/2006/main">
            <a: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makespan</a:t>
            </a:r>
          </a:p>
          <a:p xmlns:a="http://schemas.openxmlformats.org/drawingml/2006/main">
            <a: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dispatches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7074BA-30EC-4106-BD4E-48E21D920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6101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Wall clock confirms actual execution; it does not distort logical policy metrics.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6CAF8D-1CB3-423D-B4B8-DC98342F2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Children exist from startup but become eligible only at their configured logical arrival.</a:t>
            </a:r>
          </a:p>
        </p:txBody>
      </p:sp>
    </p:spTree>
    <p:extLst>
      <p:ext uri="{BB962C8B-B14F-4D97-AF65-F5344CB8AC3E}">
        <p14:creationId xmlns:p14="http://schemas.microsoft.com/office/powerpoint/2010/main" val="200319157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52A7DA-3B75-4AD9-8214-08D2C1BE0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1 · NATIVE MINIX RESULT</a:t>
            </a:r>
          </a:p>
        </p:txBody>
      </p:sp>
      <p:sp>
        <p:nvSpPr>
          <p:cNvPr id="2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C6BAF54B-2088-48CD-8CD3-9D7628863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SJF minimizes mean waiting on the known workload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FEAB2D-ADA6-4E8D-84EB-88CA4594D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9D128C-890A-4EE5-88DE-A236F5306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457200" y="1657350"/>
          <a:ext xmlns:a="http://schemas.openxmlformats.org/drawingml/2006/main" cx="695325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6e1e0880aa74b38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CB2DCA-48F7-439D-A168-827E2B2F4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90700"/>
            <a:ext cx="32575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B66AFB-40C7-4F44-86A4-047D4A894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81200"/>
            <a:ext cx="2838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FASTEST RESPONSE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3001A8-0372-4990-A05A-67D6CF213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314575"/>
            <a:ext cx="2838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5 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EF31B0-B7D5-4CD9-8F7A-4BED8E265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24175"/>
            <a:ext cx="283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MLFQ average response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1616F1-C385-4E76-8E1C-01109C270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752850"/>
            <a:ext cx="32575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077002-7259-468C-A277-0603214FD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43350"/>
            <a:ext cx="2838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FEWEST DISPATCHES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A4100C-9090-43A4-8FA2-0E2CFE449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276725"/>
            <a:ext cx="2838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B55555-EFD6-450F-B5CA-D54E510C6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86325"/>
            <a:ext cx="283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SJF and priority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863EAB-D112-4F31-A0D7-FB9CE33C3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Measured from known.conf in MINIX; test_known.sh verified the CSV.</a:t>
            </a:r>
          </a:p>
        </p:txBody>
      </p:sp>
    </p:spTree>
    <p:extLst>
      <p:ext uri="{BB962C8B-B14F-4D97-AF65-F5344CB8AC3E}">
        <p14:creationId xmlns:p14="http://schemas.microsoft.com/office/powerpoint/2010/main" val="199011234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13D2A5-B7A4-4F16-8D1C-FA4047F10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2</a:t>
            </a:r>
          </a:p>
        </p:txBody>
      </p:sp>
      <p:sp>
        <p:nvSpPr>
          <p:cNvPr id="2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5120603A-008B-41F0-B70D-F80C60879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Address geometry is configurable—and validated exactly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670C6B-D879-458A-9F13-026C9A4FB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CED8C4-377A-4F6E-8AEB-EEF582EE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A9C99E-8189-48C2-ADE5-93BA0C38A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335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32-bit virtual address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2AEB15-DD19-42FD-A266-C48152554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7044DD-D923-4BC5-856A-21790C8B4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3219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LEVEL 1</a:t>
            </a:r>
          </a:p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10 bits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C34A27-47AF-4973-B283-F02DED6E2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860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905586-64FD-4659-840E-43D452A93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571750"/>
            <a:ext cx="3219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LEVEL 2</a:t>
            </a:r>
          </a:p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10 bits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D169C1-54CF-4837-811F-2C81F10FB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286000"/>
            <a:ext cx="40005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495C9E-1076-48E3-96CD-68531AACF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571750"/>
            <a:ext cx="3581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PAGE OFFSET</a:t>
            </a:r>
          </a:p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12 bits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DC9608-57A7-459E-9A86-272CA5A80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52850"/>
            <a:ext cx="727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virtual page number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BE0D70-8606-4F7B-9DBB-794DB232D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528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byte offset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22F73E-3383-4C23-AA25-29F449011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196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16450E-D151-459C-9ACF-40DA8AB1B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625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Invariant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DF48C1-2E93-4627-91C9-85CCDDA9E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695825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Σ level bits + log₂(page size) = address bits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75F614-4825-495B-874F-BC03B839C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Sparse nodes are allocated only for hierarchy paths touched by the byte-address trace.</a:t>
            </a:r>
          </a:p>
        </p:txBody>
      </p:sp>
    </p:spTree>
    <p:extLst>
      <p:ext uri="{BB962C8B-B14F-4D97-AF65-F5344CB8AC3E}">
        <p14:creationId xmlns:p14="http://schemas.microsoft.com/office/powerpoint/2010/main" val="45976632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B945A6-2CB6-4C36-AFD2-42972D54B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2 · NATIVE MINIX MATRIX</a:t>
            </a:r>
          </a:p>
        </p:txBody>
      </p:sp>
      <p:sp>
        <p:nvSpPr>
          <p:cNvPr id="2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A872A43E-A910-4A0D-9336-8B454F1C0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Larger pages reduce faults for this fixed-byte locality trace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AC9147-0241-4F61-B901-386005407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05591D-5255-4451-9D9C-61C769D27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457200" y="1657350"/>
          <a:ext xmlns:a="http://schemas.openxmlformats.org/drawingml/2006/main" cx="752475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f32e7f3951441ea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539730-0EF9-47FF-861B-40E1BF371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847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What it means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A56399-0284-4F2F-8590-85824857F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24100"/>
            <a:ext cx="28765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Each frame covers more of the same byte working 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LRU benefits more because the trace has locality.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does not prove that the largest page is universally best.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C1148F-81E6-4D4D-95B1-D034BCB71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64 simulated frames · 10,000 references · measured in the native MINIX matrix.</a:t>
            </a:r>
          </a:p>
        </p:txBody>
      </p:sp>
    </p:spTree>
    <p:extLst>
      <p:ext uri="{BB962C8B-B14F-4D97-AF65-F5344CB8AC3E}">
        <p14:creationId xmlns:p14="http://schemas.microsoft.com/office/powerpoint/2010/main" val="22330924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7044FF-786C-4D9E-BDE3-BBAF9B9A3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3</a:t>
            </a:r>
          </a:p>
        </p:txBody>
      </p:sp>
      <p:sp>
        <p:nvSpPr>
          <p:cNvPr id="2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8776DA8B-D525-4124-A120-2742D8878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MFS prefers a free run without changing its disk format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6F8A90-5E18-4123-8B4F-18481DEE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60BADE-ACAD-4A09-8453-0A0CDC732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91C5EE-071E-4F99-BB4F-1C92E63D6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71700"/>
            <a:ext cx="2362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9130C9-14A8-4650-8895-7D2E3DE0E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90800"/>
            <a:ext cx="1943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WRITE NEEDS</a:t>
            </a:r>
          </a:p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NEW ZONE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1F8298-AEFC-4084-841B-78C5B685E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000375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3EC465-7DC6-4BF1-8388-6EEDB3F6C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171700"/>
            <a:ext cx="2362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C4FC80-1D51-4766-B8B5-2152B72D1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590800"/>
            <a:ext cx="1943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SCAN BITMAP</a:t>
            </a:r>
          </a:p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N FREE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388D6C-0CFC-463F-955C-66E056AE0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000375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66678E-FB6A-4AD9-8A18-632F2B636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2362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8C1D52-4419-47E3-874F-774F9249F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90800"/>
            <a:ext cx="1943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ALLOCATE AT</a:t>
            </a:r>
          </a:p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EXACT ORIGIN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57CFAB-1404-4951-84D9-CE8D103AB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000375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D32B7A-5837-49FA-938E-40DBBBC74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171700"/>
            <a:ext cx="2362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D472D1-9F97-4D58-9F33-9AAD55E03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590800"/>
            <a:ext cx="1943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FALL BACK</a:t>
            </a:r>
          </a:p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IF N/A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6BA00B-742D-4E01-92C7-56122E04E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57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Consistency rule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3A372D-4D50-43F7-B75C-16BA906D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381500"/>
            <a:ext cx="84391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scan is read-only. Only the original allocator marks a zone allocated, so there are no invisible reservations to leak after a crash.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18045A-53E0-42DF-BA68-30F7DEA25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5219700"/>
            <a:ext cx="8439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On-disk inode and indirect-zone structures remain unchanged.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9EF41C-C494-4BEE-86AF-4AAD6B452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mfs_extent_size=1 preserves stock behavior; allowed range is 1–1,024 zones.</a:t>
            </a:r>
          </a:p>
        </p:txBody>
      </p:sp>
    </p:spTree>
    <p:extLst>
      <p:ext uri="{BB962C8B-B14F-4D97-AF65-F5344CB8AC3E}">
        <p14:creationId xmlns:p14="http://schemas.microsoft.com/office/powerpoint/2010/main" val="103882479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D7E1AC5-50CB-4B4C-A73D-1527CC4FA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3 · BENCHMARK</a:t>
            </a:r>
          </a:p>
        </p:txBody>
      </p:sp>
      <p:sp>
        <p:nvSpPr>
          <p:cNvPr id="2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82EB0787-A263-40C5-AC0A-A8F485B28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Correctness is measured before throughput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4650C9-DDE4-46DB-A595-312773CA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0878E2-9F58-4E4A-886D-70693189D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DB4E4D-BB2E-4006-BE1A-5750AA35A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19300"/>
            <a:ext cx="1200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6C9C60-6A1D-45FB-937A-AC531B8F3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mkdir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4A7ADB-C8D2-4A9F-B368-6991A698A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40030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5A1AE6-4898-48A2-B618-C3E1658ED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019300"/>
            <a:ext cx="1200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2C1252-C11F-41C0-8E60-8C3FB0A5C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create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7A880E-02B1-4D2F-8947-FE96907EB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40030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70E7E1-4CFA-4B2D-B5D3-148ABEF98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019300"/>
            <a:ext cx="1200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F618F9-27CC-4DF2-8208-187D42A03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write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D60B44-CA64-4F97-B8B5-FABC2F0CF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40030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002A8D-37CC-42C1-9DFD-66EB6A78A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019300"/>
            <a:ext cx="1200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D2D143-DD42-46A7-842E-8D6E6CFF7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fsync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F87921-D1AE-42FD-A643-323DD7A99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40030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CEFBB5-EEBE-49D2-BC9A-EDD2E6EDD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19300"/>
            <a:ext cx="1200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D2FFD2-F21E-45F3-8AD3-795614DF6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BCA53C-2AA9-463C-8058-B5BA0FCA1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40030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A1AA18-520D-4620-BC01-E775A4801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019300"/>
            <a:ext cx="1200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7FA8DC-AF90-40EC-A648-DFB672BA3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verify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C7042D-4375-4B7E-BE8A-6ED8141AE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40030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56893B-EFD4-45E4-947E-93E482324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019300"/>
            <a:ext cx="1200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13B763-664B-47A9-9BE4-C8DDB9C54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unlink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5C66EF-0D23-4DE6-91F4-0786DB190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40030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F435C1-63BA-48DF-879A-8B270330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019300"/>
            <a:ext cx="1200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914BCFC-DB47-48C0-B5F4-03ED23683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rmdir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A1F0819-4B15-429B-A013-071F37EE2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09950"/>
            <a:ext cx="32766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E45EFC0-17ED-4E79-BE6B-8F9A4E5A0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004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CORRECTNESS GATE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0578BF3-0DAD-429E-9036-DC1E18891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3382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 errors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B9E67B3-CC0F-4ACA-887A-7E4951C45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4342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byte-for-byte pattern check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F92302-D555-461F-BC89-C977B60C9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409950"/>
            <a:ext cx="32766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53BCE5C-3E31-44BD-B1C1-EE29BE1CA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6004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MATRIX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4F99A7-699A-491B-A0DC-A95007918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93382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18 rows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D99019B-8835-4F54-8918-CAB86F6B4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54342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6 preferences × 3 runs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6E551CA-C58D-4BF9-8B45-EB75F23E3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409950"/>
            <a:ext cx="32766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5A64521-02AF-4424-B8F6-CF5F18C9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6004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RAW METRICS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BB4194F-46B7-4183-92A6-7F3DA3486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93382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4 clocks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F62EDF9-D583-4796-B2F1-0C5714D7E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4342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create · write · read · remove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F62AD49-C3BB-47B2-BBC8-65F6CADAF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Run only on a disposable secondary MFS mount with matching service and benchmark extent sizes.</a:t>
            </a:r>
          </a:p>
        </p:txBody>
      </p:sp>
    </p:spTree>
    <p:extLst>
      <p:ext uri="{BB962C8B-B14F-4D97-AF65-F5344CB8AC3E}">
        <p14:creationId xmlns:p14="http://schemas.microsoft.com/office/powerpoint/2010/main" val="6964234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FBB3B19-389E-47C2-86F2-166A352F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VERIFICATION</a:t>
            </a:r>
          </a:p>
        </p:txBody>
      </p:sp>
      <p:sp>
        <p:nvSpPr>
          <p:cNvPr id="2" name="slide-10-title">
            <a:extLst xmlns:a="http://schemas.openxmlformats.org/drawingml/2006/main">
              <a:ext uri="{FF2B5EF4-FFF2-40B4-BE49-F238E27FC236}">
                <a16:creationId xmlns:a16="http://schemas.microsoft.com/office/drawing/2014/main" id="{5F6E83C3-1F32-4465-B6B9-9F114948D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Three smoke tests guard the experiment matrices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DF6CD9-4420-41CB-8247-CA197C541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7E37B4-41FA-40AC-AC57-6C47CC407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5A4011-3B98-4EFE-9278-844DE056C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52600"/>
            <a:ext cx="2686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93EF10-CDF9-47C7-BE70-6BA5673B5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2405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AREA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69F1B9-06E0-4A1A-BFDB-5B2FECD15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752600"/>
            <a:ext cx="2876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8E0DFC-CE18-4A9D-B88D-98D178FF0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924050"/>
            <a:ext cx="2609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ORACLE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CD0C55-29D2-4E41-8E2E-B5D54606E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752600"/>
            <a:ext cx="31623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0F14F2-1457-44A2-ACAA-4787D048D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924050"/>
            <a:ext cx="2895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GATE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D9A0A7-C1F5-41B4-B81D-7C5C0834A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1752600"/>
            <a:ext cx="2552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383044-D468-49A9-9875-F2B18AD9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19240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SCRIPT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FB0029-38E0-495E-8939-0B0C5A9FE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0"/>
            <a:ext cx="2686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180B26-DEA5-4174-BBA3-A662C29B6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14600"/>
            <a:ext cx="2419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Scheduling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F4F2E7-24BF-4751-89BB-3C98D184C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286000"/>
            <a:ext cx="28765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7DF6AC-1246-4481-AFDF-CDD3BD459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514600"/>
            <a:ext cx="2609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Known averages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F5880E-380F-4EA4-B057-98A3FDBB5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286000"/>
            <a:ext cx="3162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5361F3-D0D2-45FE-A273-6D8C27790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514600"/>
            <a:ext cx="2895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CSV rows + child exit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A34571-4E2B-44D1-A14F-8C1BA5C27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286000"/>
            <a:ext cx="2552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D30D14-8FC8-4120-81D2-2D7411251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514600"/>
            <a:ext cx="228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test_known.sh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F75130-544C-4AEA-BE54-907F4F142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62300"/>
            <a:ext cx="2686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C7CE46-9DC1-4DE8-90F2-9DF8EFD7E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90900"/>
            <a:ext cx="2419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Paging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813B01-8629-470C-B170-8BD62EE7F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162300"/>
            <a:ext cx="28765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60F37B-6DBA-4920-8AB8-A7048CF08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390900"/>
            <a:ext cx="2609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Known reference string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B7A9FE4-B010-4F74-9587-44DD462EC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162300"/>
            <a:ext cx="3162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7356E4-2867-45C9-B255-3C79C0C11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390900"/>
            <a:ext cx="2895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FIFO / LRU fault totals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9A37CB-5917-4B55-AA32-D021CC335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162300"/>
            <a:ext cx="2552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3DD699-8EF3-46AE-96B7-7D8AE0D8B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390900"/>
            <a:ext cx="228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test_known.sh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9460B40-2748-48AE-A849-3B9FA074B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38600"/>
            <a:ext cx="2686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FBA8C1D-8DC3-4DC8-A616-B1F606A29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67200"/>
            <a:ext cx="2419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Extents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8D3296F-E238-4696-B359-F0BC5D652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038600"/>
            <a:ext cx="28765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6D91848-5287-4627-BDB0-9981C68DE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267200"/>
            <a:ext cx="2609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Two real file runs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4B26503-02A7-452C-9A13-509352D2E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038600"/>
            <a:ext cx="3162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A156998-3DE0-4FBA-B8FF-D32208740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267200"/>
            <a:ext cx="2895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zero verification errors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D35124F-ADA1-48DC-85BF-B39B7283B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038600"/>
            <a:ext cx="2552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D66985A-208B-4F34-9A16-C6FB852FF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267200"/>
            <a:ext cx="228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test_known.sh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118ED56-1830-4CE9-99C4-2666DC94F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578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Fail fast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CC99E66-5E2A-47F9-B10B-459DC9873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181600"/>
            <a:ext cx="954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 performance matrix is accepted after a compile failure, oracle mismatch, abnormal child exit, or nonzero data-verification count.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4E19AFA-CC20-40E7-9844-2C3F81309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Raw CSV and console logs are preserved before summaries or graphs are created.</a:t>
            </a:r>
          </a:p>
        </p:txBody>
      </p:sp>
    </p:spTree>
    <p:extLst>
      <p:ext uri="{BB962C8B-B14F-4D97-AF65-F5344CB8AC3E}">
        <p14:creationId xmlns:p14="http://schemas.microsoft.com/office/powerpoint/2010/main" val="19083273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0DB799-86B6-4034-9FA6-DCE497778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VERIFICATION SUMMARY</a:t>
            </a:r>
          </a:p>
        </p:txBody>
      </p:sp>
      <p:sp>
        <p:nvSpPr>
          <p:cNvPr id="2" name="slide-11-title">
            <a:extLst xmlns:a="http://schemas.openxmlformats.org/drawingml/2006/main">
              <a:ext uri="{FF2B5EF4-FFF2-40B4-BE49-F238E27FC236}">
                <a16:creationId xmlns:a16="http://schemas.microsoft.com/office/drawing/2014/main" id="{9C47A6AB-F303-4B06-967F-A1CEBFE3D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Native verification results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50B10F-23A3-4EF2-846B-932FE1C76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56F235-3EAA-4564-9CF6-34CA344D2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D348CA-F4E2-4498-A0B0-D198D7CEB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52600"/>
            <a:ext cx="33337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A0FE44-0F05-4BD9-A4D2-4DB2343A1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43100"/>
            <a:ext cx="2914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SOURCE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CFE0E8-2A33-4457-8ADB-F22204F8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76475"/>
            <a:ext cx="2914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A5E56D-9BA9-44CB-A472-937671907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86075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three requirements committed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491F13-CBFF-401D-888E-B95D42B38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52600"/>
            <a:ext cx="33337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DAFA08-96D5-4AD3-8D1B-4706DFA88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1943100"/>
            <a:ext cx="2914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REPORT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90E7F5-273E-441C-B7C6-2E77E9497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276475"/>
            <a:ext cx="2914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8,142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EA7D1E-8782-4151-B8CF-363AE0C03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886075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words · 28 rendered pages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BD8764-05A7-4865-988D-70DD2E99E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752600"/>
            <a:ext cx="33337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28C4A5-2579-4FED-9B5E-B7BA60394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943100"/>
            <a:ext cx="2914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VM 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5D5892-F38D-40A7-9890-7F66252CD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276475"/>
            <a:ext cx="2914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E6B0E9-A97B-4099-8A64-B1E55471A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886075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3 tests · 170 data rows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DD5937-724A-472D-8B30-7444A5516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38600"/>
            <a:ext cx="552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Archived native evidence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C3CBDD-8C4A-4EB0-8D8B-BB73415C2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33900"/>
            <a:ext cx="61912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  scheduling matrix · 80 rows</a:t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  paging matrix · 72 rows</a:t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  extent matrix · 18 rows · zero errors</a:t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  MFS preferred-run hits · zero fallbacks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1D9F11-397E-4C3D-823D-613143664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076700"/>
            <a:ext cx="43243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E5C697-8FC3-4959-A6D0-6E72C8E29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2862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TEST PLATFORM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1DDF34-C007-4697-AC5D-B04DCC28C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68630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MINIX 3.3.0</a:t>
            </a:r>
          </a:p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i386 · VirtualBox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2A83D3-1E3F-453F-BB48-E56EC52B8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Raw CSV, checksums, test output, and MFS logs are included.</a:t>
            </a:r>
          </a:p>
        </p:txBody>
      </p:sp>
    </p:spTree>
    <p:extLst>
      <p:ext uri="{BB962C8B-B14F-4D97-AF65-F5344CB8AC3E}">
        <p14:creationId xmlns:p14="http://schemas.microsoft.com/office/powerpoint/2010/main" val="42402044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B397D1-06F6-44F9-9364-8F0B3A36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FINAL TAKEAWAY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9A7774-448A-463D-A9E4-DFE309860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990600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Policy only means something</a:t>
            </a:r>
          </a:p>
          <a:p xmlns:a="http://schemas.openxmlformats.org/drawingml/2006/main">
            <a:pPr algn="l">
              <a:defRPr sz="4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when workload, mechanism,</a:t>
            </a:r>
          </a:p>
          <a:p xmlns:a="http://schemas.openxmlformats.org/drawingml/2006/main">
            <a:pPr algn="l">
              <a:defRPr sz="4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evidence stay aligned.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2DCF0C-96E7-4567-8EFA-73DE3E6CC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48150"/>
            <a:ext cx="6477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791FBE-132A-4817-A9C4-B2AEE38F3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48200"/>
            <a:ext cx="9906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Real processes. Configurable page structures. Real MFS allocation. Reproducible CSV.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3B481E-998F-4280-9D28-ADA52D702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2455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Source, report, presentation, configurations, tests, and evidence are archived together.</a:t>
            </a:r>
          </a:p>
        </p:txBody>
      </p:sp>
    </p:spTree>
    <p:extLst>
      <p:ext uri="{BB962C8B-B14F-4D97-AF65-F5344CB8AC3E}">
        <p14:creationId xmlns:p14="http://schemas.microsoft.com/office/powerpoint/2010/main" val="158694846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Microsoft PowerPoint</ap:Application>
  <ap:PresentationFormat>On-screen Show (16:9)</ap:PresentationFormat>
  <ap:Slides>12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Jana Ahmed Saieed; Mohamed Ehab Abdelbary Ibrahem; Abdelrahman Ashour Hassan; Mostafa Hamdy Mohamed Elzoghby; Rodina Mohamed (23P0191)</dc:creator>
  <lastModifiedBy>Jana Ahmed Saieed; Mohamed Ehab Abdelbary Ibrahem; Abdelrahman Ashour Hassan; Mostafa Hamdy Mohamed Elzoghby; Rodina Mohamed (23P0191)</lastModifiedBy>
  <dc:title>CSE335 MINIX 3.3.0 Project</dc:title>
  <dcterms:created xsi:type="dcterms:W3CDTF">2026-08-18T19:02:15.2830000Z</dcterms:created>
  <dcterms:modified xsi:type="dcterms:W3CDTF">2026-08-18T19:02:15.2830000Z</dcterms:modified>
</coreProperties>
</file>