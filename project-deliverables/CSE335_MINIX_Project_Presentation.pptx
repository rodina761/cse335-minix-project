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bcb7aed2f4148ff" /><Relationship Type="http://schemas.openxmlformats.org/officeDocument/2006/relationships/extended-properties" Target="/docProps/app.xml" Id="R0fc1fa8947604314" /><Relationship Type="http://schemas.openxmlformats.org/officeDocument/2006/relationships/officeDocument" Target="/ppt/presentation.xml" Id="R1f530135d6e449d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22d7c89cdc540d5"/>
  </p:sldMasterIdLst>
  <p:notesMasterIdLst>
    <p:notesMasterId xmlns:r="http://schemas.openxmlformats.org/officeDocument/2006/relationships" r:id="R5d3cef02e9954eca"/>
  </p:notesMasterIdLst>
  <p:sldIdLst>
    <p:sldId xmlns:r="http://schemas.openxmlformats.org/officeDocument/2006/relationships" id="256" r:id="R070b53eb360149c4"/>
    <p:sldId xmlns:r="http://schemas.openxmlformats.org/officeDocument/2006/relationships" id="257" r:id="Ra085d1ae542b4329"/>
    <p:sldId xmlns:r="http://schemas.openxmlformats.org/officeDocument/2006/relationships" id="258" r:id="R8c29d287634b4b8d"/>
    <p:sldId xmlns:r="http://schemas.openxmlformats.org/officeDocument/2006/relationships" id="259" r:id="R62dd85e449224cd2"/>
    <p:sldId xmlns:r="http://schemas.openxmlformats.org/officeDocument/2006/relationships" id="260" r:id="Rfbf13acee00e4cec"/>
    <p:sldId xmlns:r="http://schemas.openxmlformats.org/officeDocument/2006/relationships" id="261" r:id="R3a57f6e5c1894905"/>
    <p:sldId xmlns:r="http://schemas.openxmlformats.org/officeDocument/2006/relationships" id="262" r:id="R83a9b9fef1b542a3"/>
    <p:sldId xmlns:r="http://schemas.openxmlformats.org/officeDocument/2006/relationships" id="263" r:id="Rf00f370913ac408c"/>
    <p:sldId xmlns:r="http://schemas.openxmlformats.org/officeDocument/2006/relationships" id="264" r:id="R1cf455a97afb471b"/>
    <p:sldId xmlns:r="http://schemas.openxmlformats.org/officeDocument/2006/relationships" id="265" r:id="Ra0c1e60af4f84cba"/>
    <p:sldId xmlns:r="http://schemas.openxmlformats.org/officeDocument/2006/relationships" id="266" r:id="R8952ed91b6a44595"/>
    <p:sldId xmlns:r="http://schemas.openxmlformats.org/officeDocument/2006/relationships" id="267" r:id="R01e4186984534d3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ecaa99b808f4866" /><Relationship Type="http://schemas.openxmlformats.org/officeDocument/2006/relationships/slideMaster" Target="/ppt/slideMasters/slideMaster1.xml" Id="Rd22d7c89cdc540d5" /><Relationship Type="http://schemas.openxmlformats.org/officeDocument/2006/relationships/notesMaster" Target="/ppt/notesMasters/notesMaster1.xml" Id="R5d3cef02e9954eca" /><Relationship Type="http://schemas.openxmlformats.org/officeDocument/2006/relationships/presProps" Target="/ppt/presProps.xml" Id="R6e02d6b5bbed4713" /><Relationship Type="http://schemas.openxmlformats.org/officeDocument/2006/relationships/tableStyles" Target="/ppt/tableStyles.xml" Id="Rffd80bb731394c05" /><Relationship Type="http://schemas.openxmlformats.org/officeDocument/2006/relationships/slide" Target="/ppt/slides/slide1.xml" Id="R070b53eb360149c4" /><Relationship Type="http://schemas.openxmlformats.org/officeDocument/2006/relationships/slide" Target="/ppt/slides/slide2.xml" Id="Ra085d1ae542b4329" /><Relationship Type="http://schemas.openxmlformats.org/officeDocument/2006/relationships/slide" Target="/ppt/slides/slide3.xml" Id="R8c29d287634b4b8d" /><Relationship Type="http://schemas.openxmlformats.org/officeDocument/2006/relationships/slide" Target="/ppt/slides/slide4.xml" Id="R62dd85e449224cd2" /><Relationship Type="http://schemas.openxmlformats.org/officeDocument/2006/relationships/slide" Target="/ppt/slides/slide5.xml" Id="Rfbf13acee00e4cec" /><Relationship Type="http://schemas.openxmlformats.org/officeDocument/2006/relationships/slide" Target="/ppt/slides/slide6.xml" Id="R3a57f6e5c1894905" /><Relationship Type="http://schemas.openxmlformats.org/officeDocument/2006/relationships/slide" Target="/ppt/slides/slide7.xml" Id="R83a9b9fef1b542a3" /><Relationship Type="http://schemas.openxmlformats.org/officeDocument/2006/relationships/slide" Target="/ppt/slides/slide8.xml" Id="Rf00f370913ac408c" /><Relationship Type="http://schemas.openxmlformats.org/officeDocument/2006/relationships/slide" Target="/ppt/slides/slide9.xml" Id="R1cf455a97afb471b" /><Relationship Type="http://schemas.openxmlformats.org/officeDocument/2006/relationships/slide" Target="/ppt/slides/slide10.xml" Id="Ra0c1e60af4f84cba" /><Relationship Type="http://schemas.openxmlformats.org/officeDocument/2006/relationships/slide" Target="/ppt/slides/slide11.xml" Id="R8952ed91b6a44595" /><Relationship Type="http://schemas.openxmlformats.org/officeDocument/2006/relationships/slide" Target="/ppt/slides/slide12.xml" Id="R01e4186984534d3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d086834962b4a1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0528a772b11483d" /><Relationship Type="http://schemas.openxmlformats.org/officeDocument/2006/relationships/notesMaster" Target="/ppt/notesMasters/notesMaster1.xml" Id="Rd557f1a1c21841e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68e3550c3f345fd" /><Relationship Type="http://schemas.openxmlformats.org/officeDocument/2006/relationships/notesMaster" Target="/ppt/notesMasters/notesMaster1.xml" Id="R36867a5309fa4c6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e210bb024ac43c8" /><Relationship Type="http://schemas.openxmlformats.org/officeDocument/2006/relationships/notesMaster" Target="/ppt/notesMasters/notesMaster1.xml" Id="R70209f0641da43a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2ea61b8f7644997" /><Relationship Type="http://schemas.openxmlformats.org/officeDocument/2006/relationships/notesMaster" Target="/ppt/notesMasters/notesMaster1.xml" Id="R0946284239554ff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88ecc2d1a0a48f6" /><Relationship Type="http://schemas.openxmlformats.org/officeDocument/2006/relationships/notesMaster" Target="/ppt/notesMasters/notesMaster1.xml" Id="R4598e39ce07d406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314ab0271e74fe5" /><Relationship Type="http://schemas.openxmlformats.org/officeDocument/2006/relationships/notesMaster" Target="/ppt/notesMasters/notesMaster1.xml" Id="R8f8b7d02042943c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8c5f0318a4c4c00" /><Relationship Type="http://schemas.openxmlformats.org/officeDocument/2006/relationships/notesMaster" Target="/ppt/notesMasters/notesMaster1.xml" Id="Rafdb8097a98f457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84fd793aa6a4ffc" /><Relationship Type="http://schemas.openxmlformats.org/officeDocument/2006/relationships/notesMaster" Target="/ppt/notesMasters/notesMaster1.xml" Id="R92a54caf7e0043e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0dabf407f6a4ed6" /><Relationship Type="http://schemas.openxmlformats.org/officeDocument/2006/relationships/notesMaster" Target="/ppt/notesMasters/notesMaster1.xml" Id="R6575ceb743064c6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d67b14601d8456d" /><Relationship Type="http://schemas.openxmlformats.org/officeDocument/2006/relationships/notesMaster" Target="/ppt/notesMasters/notesMaster1.xml" Id="R6071ed225610473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84795e9c3654653" /><Relationship Type="http://schemas.openxmlformats.org/officeDocument/2006/relationships/notesMaster" Target="/ppt/notesMasters/notesMaster1.xml" Id="R4f138049984c43d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e7aa12c70fd4d0e" /><Relationship Type="http://schemas.openxmlformats.org/officeDocument/2006/relationships/notesMaster" Target="/ppt/notesMasters/notesMaster1.xml" Id="R4e03bc697e8a482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ab270b7d8d426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78ac586d42b4d71" /><Relationship Type="http://schemas.openxmlformats.org/officeDocument/2006/relationships/slideLayout" Target="/ppt/slideLayouts/slideLayout1.xml" Id="R5f57e463e0cb4ba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f57e463e0cb4b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be6811251747d6" /><Relationship Type="http://schemas.openxmlformats.org/officeDocument/2006/relationships/notesSlide" Target="/ppt/notesSlides/notesSlide1.xml" Id="R661200a9afb7456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c40494b78b4501" /><Relationship Type="http://schemas.openxmlformats.org/officeDocument/2006/relationships/notesSlide" Target="/ppt/notesSlides/notesSlide2.xml" Id="R8219427cab8b484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adbab0d9bf4bbd" /><Relationship Type="http://schemas.openxmlformats.org/officeDocument/2006/relationships/notesSlide" Target="/ppt/notesSlides/notesSlide3.xml" Id="Rfb3d70d83f874be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652ca83d1b4a90" /><Relationship Type="http://schemas.openxmlformats.org/officeDocument/2006/relationships/notesSlide" Target="/ppt/notesSlides/notesSlide4.xml" Id="Rd102b674a4634d9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36e8f1a39b447c" /><Relationship Type="http://schemas.openxmlformats.org/officeDocument/2006/relationships/chart" Target="/ppt/slides/charts/chart1.xml" Id="R6e32fc7c13f6494f" /><Relationship Type="http://schemas.openxmlformats.org/officeDocument/2006/relationships/notesSlide" Target="/ppt/notesSlides/notesSlide5.xml" Id="R2a6503b931844ea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ef88a07f894951" /><Relationship Type="http://schemas.openxmlformats.org/officeDocument/2006/relationships/notesSlide" Target="/ppt/notesSlides/notesSlide6.xml" Id="R633cdfedc1f247c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b0b6b67a144bf2" /><Relationship Type="http://schemas.openxmlformats.org/officeDocument/2006/relationships/chart" Target="/ppt/slides/charts/chart2.xml" Id="Rbc37f41c09214e9b" /><Relationship Type="http://schemas.openxmlformats.org/officeDocument/2006/relationships/notesSlide" Target="/ppt/notesSlides/notesSlide7.xml" Id="Rfe4f809d84a0443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9e497f99244dcf" /><Relationship Type="http://schemas.openxmlformats.org/officeDocument/2006/relationships/notesSlide" Target="/ppt/notesSlides/notesSlide8.xml" Id="R754fe32c83ab4b4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bfdb793ce845f0" /><Relationship Type="http://schemas.openxmlformats.org/officeDocument/2006/relationships/notesSlide" Target="/ppt/notesSlides/notesSlide9.xml" Id="R00ff86691edd430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ff6af123dc4bbd" /><Relationship Type="http://schemas.openxmlformats.org/officeDocument/2006/relationships/notesSlide" Target="/ppt/notesSlides/notesSlide10.xml" Id="R7e00b52ce960480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9931d277594ad8" /><Relationship Type="http://schemas.openxmlformats.org/officeDocument/2006/relationships/notesSlide" Target="/ppt/notesSlides/notesSlide11.xml" Id="R61a76fd2fa55481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620552c0084218" /><Relationship Type="http://schemas.openxmlformats.org/officeDocument/2006/relationships/notesSlide" Target="/ppt/notesSlides/notesSlide12.xml" Id="R9085d89da02d40da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Turnaround</c:v>
          </c:tx>
          <c:spPr>
            <a:solidFill xmlns:a="http://schemas.openxmlformats.org/drawingml/2006/main">
              <a:srgbClr val="6DCBF4"/>
            </a:solidFill>
          </c:spPr>
          <c:cat>
            <c:strLit>
              <c:ptCount val="4"/>
              <c:pt idx="0">
                <c:v>RR</c:v>
              </c:pt>
              <c:pt idx="1">
                <c:v>SJF</c:v>
              </c:pt>
              <c:pt idx="2">
                <c:v>Priority</c:v>
              </c:pt>
              <c:pt idx="3">
                <c:v>MLFQ</c:v>
              </c:pt>
            </c:strLit>
          </c:cat>
          <c:val>
            <c:numLit>
              <c:formatCode>General</c:formatCode>
              <c:ptCount val="4"/>
              <c:pt idx="0">
                <c:v>185</c:v>
              </c:pt>
              <c:pt idx="1">
                <c:v>137</c:v>
              </c:pt>
              <c:pt idx="2">
                <c:v>155</c:v>
              </c:pt>
              <c:pt idx="3">
                <c:v>191</c:v>
              </c:pt>
            </c:numLit>
          </c:val>
        </c:ser>
        <c:ser>
          <c:idx val="1"/>
          <c:order val="1"/>
          <c:tx>
            <c:v>Waiting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4"/>
              <c:pt idx="0">
                <c:v>RR</c:v>
              </c:pt>
              <c:pt idx="1">
                <c:v>SJF</c:v>
              </c:pt>
              <c:pt idx="2">
                <c:v>Priority</c:v>
              </c:pt>
              <c:pt idx="3">
                <c:v>MLFQ</c:v>
              </c:pt>
            </c:strLit>
          </c:cat>
          <c:val>
            <c:numLit>
              <c:formatCode>General</c:formatCode>
              <c:ptCount val="4"/>
              <c:pt idx="0">
                <c:v>133</c:v>
              </c:pt>
              <c:pt idx="1">
                <c:v>85</c:v>
              </c:pt>
              <c:pt idx="2">
                <c:v>103</c:v>
              </c:pt>
              <c:pt idx="3">
                <c:v>139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22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50"/>
      </c:valAx>
    </c:plotArea>
    <c:legend>
      <c:legendPos val="b"/>
      <c:overlay val="0"/>
    </c:legend>
    <c:plotVisOnly val="1"/>
  </c:chart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FIFO</c:v>
          </c:tx>
          <c:spPr>
            <a:solidFill xmlns:a="http://schemas.openxmlformats.org/drawingml/2006/main">
              <a:srgbClr val="6DCBF4"/>
            </a:solidFill>
            <a:ln xmlns:a="http://schemas.openxmlformats.org/drawingml/2006/main" w="28575">
              <a:solidFill>
                <a:srgbClr val="6DCBF4"/>
              </a:solidFill>
            </a:ln>
          </c:spPr>
          <c:marker>
            <c:symbol val="none"/>
          </c:marker>
          <c:cat>
            <c:strLit>
              <c:ptCount val="4"/>
              <c:pt idx="0">
                <c:v>1 KiB</c:v>
              </c:pt>
              <c:pt idx="1">
                <c:v>2 KiB</c:v>
              </c:pt>
              <c:pt idx="2">
                <c:v>4 KiB</c:v>
              </c:pt>
              <c:pt idx="3">
                <c:v>8 KiB</c:v>
              </c:pt>
            </c:strLit>
          </c:cat>
          <c:val>
            <c:numLit>
              <c:formatCode>General</c:formatCode>
              <c:ptCount val="4"/>
              <c:pt idx="0">
                <c:v>6937</c:v>
              </c:pt>
              <c:pt idx="1">
                <c:v>4735</c:v>
              </c:pt>
              <c:pt idx="2">
                <c:v>2666</c:v>
              </c:pt>
              <c:pt idx="3">
                <c:v>1378</c:v>
              </c:pt>
            </c:numLit>
          </c:val>
        </c:ser>
        <c:ser>
          <c:idx val="1"/>
          <c:order val="1"/>
          <c:tx>
            <c:v>LRU</c:v>
          </c:tx>
          <c:spPr>
            <a:solidFill xmlns:a="http://schemas.openxmlformats.org/drawingml/2006/main">
              <a:srgbClr val="3D8DFF"/>
            </a:solidFill>
            <a:ln xmlns:a="http://schemas.openxmlformats.org/drawingml/2006/main" w="28575">
              <a:solidFill>
                <a:srgbClr val="3D8DFF"/>
              </a:solidFill>
            </a:ln>
          </c:spPr>
          <c:marker>
            <c:symbol val="none"/>
          </c:marker>
          <c:cat>
            <c:strLit>
              <c:ptCount val="4"/>
              <c:pt idx="0">
                <c:v>1 KiB</c:v>
              </c:pt>
              <c:pt idx="1">
                <c:v>2 KiB</c:v>
              </c:pt>
              <c:pt idx="2">
                <c:v>4 KiB</c:v>
              </c:pt>
              <c:pt idx="3">
                <c:v>8 KiB</c:v>
              </c:pt>
            </c:strLit>
          </c:cat>
          <c:val>
            <c:numLit>
              <c:formatCode>General</c:formatCode>
              <c:ptCount val="4"/>
              <c:pt idx="0">
                <c:v>6791</c:v>
              </c:pt>
              <c:pt idx="1">
                <c:v>4047</c:v>
              </c:pt>
              <c:pt idx="2">
                <c:v>1655</c:v>
              </c:pt>
              <c:pt idx="3">
                <c:v>1064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8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2000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901C25-9DFA-47A7-8C3E-C48AC2EDF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CSE335  ·  SUMMER 2026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30A1EDA1-246E-4903-940C-00EDB65D3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33550"/>
            <a:ext cx="99060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Scheduling, paging,</a:t>
            </a:r>
          </a:p>
          <a:p xmlns:a="http://schemas.openxmlformats.org/drawingml/2006/main">
            <a:pPr algn="l">
              <a:defRPr sz="4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extent-aware storage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658CF4-1C82-449A-99B4-42DF10946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29050"/>
            <a:ext cx="447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D6F35A-E9F4-47FA-91F0-932BAA2E5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762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Three reproducible experiments inside MINIX 3.3.0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8B8AF2-6312-4A52-972E-4C38E7B28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912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Rodina and project team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930EFC-D1DC-44D5-98EB-045899E5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150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Source · tests · report · presentation</a:t>
            </a:r>
          </a:p>
        </p:txBody>
      </p:sp>
    </p:spTree>
    <p:extLst>
      <p:ext uri="{BB962C8B-B14F-4D97-AF65-F5344CB8AC3E}">
        <p14:creationId xmlns:p14="http://schemas.microsoft.com/office/powerpoint/2010/main" val="560761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A544DB-F7C0-46A7-B3C6-D509951B4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PROJECT SCOPE</a:t>
            </a:r>
          </a:p>
        </p:txBody>
      </p:sp>
      <p:sp>
        <p:nvSpPr>
          <p:cNvPr id="2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EC6035A7-6376-4C3C-91FA-A93E1DB21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clean baseline, three controlled interventions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785485-758B-494B-9337-5908D277D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B4302F-9F79-4C8C-9E99-31B54DF2D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C6CD74-FC5C-40F9-8A19-AA10C69B8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4050"/>
            <a:ext cx="34290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B4CCD9-62EC-41DE-9E8D-C1AF901BA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511C51-22DF-4D17-9E73-CDD615229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3009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4 policies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06948E-E82F-4691-AC53-0BC37A7DE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57525"/>
            <a:ext cx="300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RR · SJF · priority · MLFQ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813393-280D-4F26-B458-5B22FD29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924050"/>
            <a:ext cx="34290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5817D7-777A-40C2-BB50-81A9C1C79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145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E3F88D-F746-44EB-86E4-3AB743AC8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47925"/>
            <a:ext cx="3009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 policies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4C8BBA-0299-4D5F-905C-7901B1B74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057525"/>
            <a:ext cx="300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FIFO · exact LRU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0CCAF5-1055-460E-AFC1-F0F3CAC26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924050"/>
            <a:ext cx="34290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6D254A-DA3D-4F25-8625-7789755D4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1145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373616-C463-4BDC-A2C3-D444BD944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47925"/>
            <a:ext cx="3009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6 extents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94B082-8CD6-4877-8DA5-D361FEFE7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57525"/>
            <a:ext cx="300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1 · 2 · 4 · 8 · 16 · 32 blocks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BC54D8-E42F-4318-A6D1-D4B40C64B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529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Baseline tag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AC5E6F-0F25-41E9-84F1-643FEA767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386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baseline-v3.3.0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47746C-29E9-412E-A7D6-1E6AE120F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52900"/>
            <a:ext cx="73533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experiment reads text configuration and writes CSV. All three native matrices and their validation log are archived with the submission.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36A98F-D492-448E-806D-C408F7C7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Repository history makes every change reviewable against the untouched release.</a:t>
            </a:r>
          </a:p>
        </p:txBody>
      </p:sp>
    </p:spTree>
    <p:extLst>
      <p:ext uri="{BB962C8B-B14F-4D97-AF65-F5344CB8AC3E}">
        <p14:creationId xmlns:p14="http://schemas.microsoft.com/office/powerpoint/2010/main" val="20976482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C1119D-45F7-4035-9034-E4D4CFE13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ARCHITECTURE</a:t>
            </a:r>
          </a:p>
        </p:txBody>
      </p:sp>
      <p:sp>
        <p:nvSpPr>
          <p:cNvPr id="2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C0361F8E-0D8D-424F-A1A4-1F481928E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design respects MINIX subsystem boundaries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1FEEB7-085E-4DBE-8D13-474BE1FC8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A90698-D6BD-45D5-86BE-0AA5DD9DF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B1ABBE-50CA-4C53-8BC6-B28F5B88B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28800"/>
            <a:ext cx="35242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E74DF4-47D5-4EEC-9C10-1A55C410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REAL WORKERS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C00416-2A55-472B-A434-F5DCC4678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30670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fork + pipes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controlled dispatch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logical policy metrics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wall-time confirmation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6AEDAA-8506-4501-B980-9F8C71A9C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828800"/>
            <a:ext cx="35242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FB3A69-99CC-4226-ABCE-F8ADD98AC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0764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SOFTWARE VM 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0B0006-727F-4F87-BC6B-34144B882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609850"/>
            <a:ext cx="30670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sparse hierarchy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byte-address trace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FIFO / LRU frames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native CSV 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35C2AD-A403-4267-8BB9-489C580BE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828800"/>
            <a:ext cx="35242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6B93B7-1755-455C-B1E9-306220B6B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0764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REAL MFS PATH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2D17FF-8134-4F94-8C5E-6697F311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09850"/>
            <a:ext cx="30670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zone bitmap scan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exact allocation origin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safe fallback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unmount counters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ED5EB1-FF06-484F-A441-77C7A0B2B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14950"/>
            <a:ext cx="7372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Controlled experiment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681E35-8948-4F45-877C-B536A7B1A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3149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Production allocation policy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1268A-B480-439A-A209-6504D520B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The configurable paging hierarchy does not claim to reprogram x86 MMU geometry.</a:t>
            </a:r>
          </a:p>
        </p:txBody>
      </p:sp>
    </p:spTree>
    <p:extLst>
      <p:ext uri="{BB962C8B-B14F-4D97-AF65-F5344CB8AC3E}">
        <p14:creationId xmlns:p14="http://schemas.microsoft.com/office/powerpoint/2010/main" val="9059293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A065CA-C62C-46BD-8D39-96DDEC743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1</a:t>
            </a: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3195ADC8-8D64-4D6F-8E79-943B3509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Real child processes make policy effects observable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B4E4CC-43A9-442A-BD2B-83C516963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C08562-AEF1-4427-9C90-BDE2AFF31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2F64E7-D08D-4F08-BFBF-864969B1E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09750"/>
            <a:ext cx="2914650" cy="335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20018E-F3D7-4F67-B557-FEE99693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238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</a:t>
            </a:r>
          </a:p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DISPATCHER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9C3550-8154-4508-A73F-49132BA09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23431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select policy</a:t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advance logical time</a:t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record metrics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4E95B7-00EF-40D8-B3D6-8DC618F1F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52600"/>
            <a:ext cx="2571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C704F1-BB75-4FAF-973A-7EDB686F9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9050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WORKER P1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07693D-1C4D-4584-BB0C-9214447E7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1907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CPU work → reply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A48997-179A-414E-AAD0-F56AF4EB1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143125"/>
            <a:ext cx="904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D0A0A6-BE48-4BCB-A899-6BD0F8719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76550"/>
            <a:ext cx="2571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0A7141-1C06-459D-BF02-6AED70D8F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0289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WORKER P2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6FFBA5-EE61-4C7E-B40E-28974188A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3147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CPU work → reply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2BE8FE-8C9F-4521-B2F0-CC6DD1C2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267075"/>
            <a:ext cx="904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85C5D3-6CF8-48CE-82F7-D47C08F6E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000500"/>
            <a:ext cx="2571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C7FFAD-4197-4294-81ED-405EE52B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1529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WORKER P3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50C3C9-A606-46C2-9814-CBFD5CF38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4386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CPU work → reply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DB16B4-5CE4-49E5-B51D-044EA0C61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391025"/>
            <a:ext cx="904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61E5EA-9FA4-4540-AA06-864925AFA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88595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Logical clock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610233-8ADD-4B5B-9023-65E9FCBF7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381250"/>
            <a:ext cx="2952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turnaround</a:t>
            </a:r>
          </a:p>
          <a:p xmlns:a="http://schemas.openxmlformats.org/drawingml/2006/main">
            <a: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waiting</a:t>
            </a:r>
          </a:p>
          <a:p xmlns:a="http://schemas.openxmlformats.org/drawingml/2006/main">
            <a: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response</a:t>
            </a:r>
          </a:p>
          <a:p xmlns:a="http://schemas.openxmlformats.org/drawingml/2006/main">
            <a: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makespan</a:t>
            </a:r>
          </a:p>
          <a:p xmlns:a="http://schemas.openxmlformats.org/drawingml/2006/main">
            <a: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dispatches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05EA6F-929B-4572-969B-1645A67D3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6101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Wall clock confirms actual execution; it does not distort logical policy metrics.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3EBBAE-849E-4BB1-84AC-AEE9DCFFA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Children exist from startup but become eligible only at their configured logical arrival.</a:t>
            </a:r>
          </a:p>
        </p:txBody>
      </p:sp>
    </p:spTree>
    <p:extLst>
      <p:ext uri="{BB962C8B-B14F-4D97-AF65-F5344CB8AC3E}">
        <p14:creationId xmlns:p14="http://schemas.microsoft.com/office/powerpoint/2010/main" val="2878668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1ED211-3170-49AA-8ED0-433B6A00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1 · NATIVE MINIX RESULT</a:t>
            </a:r>
          </a:p>
        </p:txBody>
      </p:sp>
      <p:sp>
        <p:nvSpPr>
          <p:cNvPr id="2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F4E93ACA-3FB0-4B6B-8A5C-18E880CF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SJF minimizes mean waiting on the known workload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32D27B-D532-4970-AE53-E15BFC3F2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1D8A45-FB2D-406B-8B70-827D00DDF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457200" y="1657350"/>
          <a:ext xmlns:a="http://schemas.openxmlformats.org/drawingml/2006/main" cx="69532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e32fc7c13f6494f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52659E-05B2-4C81-BBA4-09C71C4EE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90700"/>
            <a:ext cx="32575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DC6C2C-850A-47C8-A91F-E27118F70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81200"/>
            <a:ext cx="2838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FASTEST RESPONSE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D16820-9094-4FEB-BCBF-5AD4C95C0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14575"/>
            <a:ext cx="2838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5 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C25D3D-377E-4F99-9164-26A70C1A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24175"/>
            <a:ext cx="283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MLFQ average response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3212B7-F990-40B5-B65B-BE84A0B59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752850"/>
            <a:ext cx="32575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3DAAFC-A99C-4FBA-9BC7-CB7C4B27A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43350"/>
            <a:ext cx="2838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FEWEST DISPATCHES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298364-6EFF-4115-95B1-228EE2001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76725"/>
            <a:ext cx="2838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FCB3E1-14D2-4016-927A-0E1026955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86325"/>
            <a:ext cx="283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SJF and priority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B3E76A-69B2-478B-B0C7-E29564135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Measured from known.conf in MINIX; test_known.sh verified the CSV.</a:t>
            </a:r>
          </a:p>
        </p:txBody>
      </p:sp>
    </p:spTree>
    <p:extLst>
      <p:ext uri="{BB962C8B-B14F-4D97-AF65-F5344CB8AC3E}">
        <p14:creationId xmlns:p14="http://schemas.microsoft.com/office/powerpoint/2010/main" val="156560229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20CD17-D773-46DD-AB8E-8F8810D7E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2</a:t>
            </a:r>
          </a:p>
        </p:txBody>
      </p:sp>
      <p:sp>
        <p:nvSpPr>
          <p:cNvPr id="2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0F2B026D-FE24-496A-AB1B-6435533A8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Address geometry is configurable—and validated exactly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CB82A7-810D-4FC9-BB6C-0CC3BF6B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B63326-B832-46A7-BEFE-30E34DDAC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EC8154-DF91-4039-9DCE-A8718E0EE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33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32-bit virtual address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1A2EA7-6291-48B0-B6F4-63FEFD6AC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7754D2-2293-4650-9070-0B421EA8B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3219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LEVEL 1</a:t>
            </a:r>
          </a:p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10 bits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7ED2AF-4ED4-42CC-87D2-68F18B8F1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860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BA0AC3-6184-4F15-AAB9-1C2577AF0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571750"/>
            <a:ext cx="3219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LEVEL 2</a:t>
            </a:r>
          </a:p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10 bits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215E91-6175-4634-AC0F-1D818D5CB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286000"/>
            <a:ext cx="40005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FC223D-C5F8-4B59-8121-8BFCFDD2D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71750"/>
            <a:ext cx="3581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PAGE OFFSET</a:t>
            </a:r>
          </a:p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12 bits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F7C06C-081E-4D1F-A072-5CA2840CB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52850"/>
            <a:ext cx="727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virtual page number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9A48EF-58D0-42A5-9019-6026B8672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528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byte offset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8806B3-E069-48DA-B83B-7BC75371F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196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9AE45B-330F-457A-B2D9-026BAF75B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625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Invariant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1FCB85-4C8B-4151-9A0B-B24B56134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95825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Σ level bits + log₂(page size) = address bits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D9F1FA-495B-48FE-8832-A3D4EC64F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Sparse nodes are allocated only for hierarchy paths touched by the byte-address trace.</a:t>
            </a:r>
          </a:p>
        </p:txBody>
      </p:sp>
    </p:spTree>
    <p:extLst>
      <p:ext uri="{BB962C8B-B14F-4D97-AF65-F5344CB8AC3E}">
        <p14:creationId xmlns:p14="http://schemas.microsoft.com/office/powerpoint/2010/main" val="7554994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AF5FA8-CC8E-4348-AF98-7D1E86800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2 · NATIVE MINIX MATRIX</a:t>
            </a:r>
          </a:p>
        </p:txBody>
      </p:sp>
      <p:sp>
        <p:nvSpPr>
          <p:cNvPr id="2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1739B578-5580-4BDC-8EE2-C68017D3C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Larger pages reduce faults for this fixed-byte locality trace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515E6E-91AF-46AA-8E8E-E88F60BBD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ED2D4F-2EF7-4E85-B94E-9BF60470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457200" y="1657350"/>
          <a:ext xmlns:a="http://schemas.openxmlformats.org/drawingml/2006/main" cx="7524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c37f41c09214e9b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67CF14-47AB-4F6E-8593-6B181EB94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847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What it means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20B835-8000-4FC6-A983-FC706963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2410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Each frame covers more of the same byte working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LRU benefits more because the trace has locality.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does not prove that the largest page is universally best.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E385B4-3163-439F-9DEC-7B6378BF3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64 simulated frames · 10,000 references · measured in the native MINIX matrix.</a:t>
            </a:r>
          </a:p>
        </p:txBody>
      </p:sp>
    </p:spTree>
    <p:extLst>
      <p:ext uri="{BB962C8B-B14F-4D97-AF65-F5344CB8AC3E}">
        <p14:creationId xmlns:p14="http://schemas.microsoft.com/office/powerpoint/2010/main" val="7171754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71EFDA-93FE-4DA9-91DC-0FA29EFE9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3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2A5A7C5E-782C-450B-88A5-C88B55E17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MFS prefers a free run without changing its disk format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DBCAB3-A94F-4594-AF9D-B799673D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02E69C-9817-4107-8CBB-7C67F11D3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5FD658-DDCC-42C9-8036-3AEE3CAF6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717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AA7E15-ED31-42F3-AB36-774634121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1943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WRITE NEEDS</a:t>
            </a:r>
          </a:p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NEW ZONE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00A990-A450-4119-A94B-074C555D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000375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8BCEAB-FE1A-436F-A4B1-E816371FF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1717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208737-952A-4A7C-B87E-73C9ED0D1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590800"/>
            <a:ext cx="1943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SCAN BITMAP</a:t>
            </a:r>
          </a:p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N FREE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0E9226-C6B1-447B-A011-DDC6CA1E2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000375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F242D7-F0A4-499F-ACDD-B7E244CAA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801BBA-3176-40BE-AB2D-5D9BE2CD1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90800"/>
            <a:ext cx="1943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ALLOCATE AT</a:t>
            </a:r>
          </a:p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EXACT ORIGIN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A2B45B-AC2E-4D0A-92C5-930DB42C9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000375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E99709-27F3-468F-A9B8-8BB6D891C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1717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DB3895-8FED-4959-8354-02B52B247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90800"/>
            <a:ext cx="1943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FALL BACK</a:t>
            </a:r>
          </a:p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IF N/A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EE44E8-57E9-4948-8969-42DBC7CE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57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Consistency rule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A323F9-D07F-430A-8451-9D63FC700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381500"/>
            <a:ext cx="84391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scan is read-only. Only the original allocator marks a zone allocated, so there are no invisible reservations to leak after a crash.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1C7B6C-4E7B-435B-82A7-B16A485E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5219700"/>
            <a:ext cx="8439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On-disk inode and indirect-zone structures remain unchanged.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7C7EFC-3455-49D6-8694-AD86E7D53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mfs_extent_size=1 preserves stock behavior; allowed range is 1–1,024 zones.</a:t>
            </a:r>
          </a:p>
        </p:txBody>
      </p:sp>
    </p:spTree>
    <p:extLst>
      <p:ext uri="{BB962C8B-B14F-4D97-AF65-F5344CB8AC3E}">
        <p14:creationId xmlns:p14="http://schemas.microsoft.com/office/powerpoint/2010/main" val="9629648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F0082BF-DA7B-4C83-A185-5EBAA60F7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3 · BENCHMARK</a:t>
            </a:r>
          </a:p>
        </p:txBody>
      </p:sp>
      <p:sp>
        <p:nvSpPr>
          <p:cNvPr id="2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90546DD4-12D3-4191-9EAC-D95D71C6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Correctness is measured before throughput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66265F-256F-4DEB-B603-A01224ECD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3017E6-B3D9-4DA2-B7AC-8C480B4AA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EC1A2F-695E-4F30-9751-10BC417CD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1A24DB-66D8-4F32-80C5-A05505815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mkdir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E78758-8176-4142-8800-A16AE0591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0FC28B-E3D1-49D7-8549-2C69DAF3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7A0DDD-ED21-4E3B-9BDC-0F7D20B23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create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8F9B90-A6D4-4B56-9FA4-1DE8364C3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1ECB0A-FE33-4EC8-A753-08A9A88B6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9A54A1-D5C6-4E09-B043-F97105CF9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write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8D861F-7040-4A05-8829-3FBD2061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2B4493-A411-4D0A-95DF-2FEC7FCC2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051237-26DB-4D3E-9D97-D5430F895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fsync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3EB882-D860-4EE6-8548-5AD3E5AB7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104D50-6251-4E79-90CB-3C6C1D44A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B9C09B-7E15-421E-B444-3ED01675C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4FC0C6-FD0F-4A46-AA45-F7B22B9E2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DAAA95-7C17-4D6D-A0AB-096D87FEB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387D47-829F-493D-A1CF-1050956B7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299D39-BE74-4608-9A8A-36F2FF22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9CCEE5-82FE-45E6-8425-B63AF774F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F0916C-46CB-41CB-87AA-61ECC0C13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unlink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83F2C3-4DE6-414D-9873-29E996E80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450C25-207E-4088-AF26-9C2FB28AC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EC4D53-4784-4A52-9F47-6419BB533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rmdir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722801-BAA5-4D5F-B7B7-0068236B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09950"/>
            <a:ext cx="32766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980DB6-EAF9-4FB0-9DD8-970A861C7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CORRECTNESS GATE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03CFA9-E559-4CCD-83E0-2A707308E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338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 errors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272856B-66A3-4C85-ABB4-0D022C215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4342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byte-for-byte pattern check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6288E49-A13D-41A3-87C3-25DDDAB25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409950"/>
            <a:ext cx="32766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CA95503-B33C-4124-9092-30D445548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600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MATRIX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13D6CF-E3B6-4857-8A76-174885D0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338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18 rows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04C3CA5-F186-4A00-95AE-72592AAAF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54342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6 preferences × 3 runs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B309657-0AB3-4120-89A0-39BA77F40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409950"/>
            <a:ext cx="32766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92331B3-16F1-41A8-B1D3-0D212508E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00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RAW METRICS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2BA097C-7B8C-48A3-A573-F1BEC73E8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9338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4 clocks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8CDDC16-00E2-468F-BFA0-C8C79AC9A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4342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create · write · read · remove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D5DD059-B90D-47A4-BB34-16A952EE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Run only on a disposable secondary MFS mount with matching service and benchmark extent sizes.</a:t>
            </a:r>
          </a:p>
        </p:txBody>
      </p:sp>
    </p:spTree>
    <p:extLst>
      <p:ext uri="{BB962C8B-B14F-4D97-AF65-F5344CB8AC3E}">
        <p14:creationId xmlns:p14="http://schemas.microsoft.com/office/powerpoint/2010/main" val="4136297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D0E75A1-3D8D-4D47-8E42-9647A4FAB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VERIFICATION</a:t>
            </a:r>
          </a:p>
        </p:txBody>
      </p:sp>
      <p:sp>
        <p:nvSpPr>
          <p:cNvPr id="2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832B456B-0A6C-4D8E-A63E-6E036F63A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Three smoke tests guard the experiment matrices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826523-2792-4F41-8C31-3730C82F9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A06A87-C11D-4BD3-9044-F3A00A804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CAFA90-3EEC-41EF-A063-3C4AE2FF1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52600"/>
            <a:ext cx="2686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4E8E98-747C-4AEF-80B7-C9A88595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2405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AREA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D3B350-D3F1-43B3-B58F-A4886BE56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752600"/>
            <a:ext cx="2876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5422CB-587F-4B8D-BD0F-846554B46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924050"/>
            <a:ext cx="2609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ORACLE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9F079A-1DD9-4F94-8D00-A856C4E5C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752600"/>
            <a:ext cx="3162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CBCED9-D8C3-4471-A96F-B1C949F08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24050"/>
            <a:ext cx="2895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GATE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D597B5-27CC-4F4A-9D09-920EF2712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752600"/>
            <a:ext cx="2552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99502A-025A-4F84-A0F7-1756CDCC9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9240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SCRIPT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A20096-28B2-42E5-9474-1A797F3C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0"/>
            <a:ext cx="2686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1A992D-B54D-4EDE-AF63-E9F7C6254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14600"/>
            <a:ext cx="2419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Scheduling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9F0FD2-3C84-4820-A8DF-9BBEC07A7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86000"/>
            <a:ext cx="2876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E4B849-4AF2-4F84-B292-279D0195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514600"/>
            <a:ext cx="2609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Known averages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59BC0C-4E8D-4423-B658-D22F98CFB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286000"/>
            <a:ext cx="3162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71E28F-DA68-4854-9E26-5C7D68AA0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14600"/>
            <a:ext cx="289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CSV rows + child exit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9B38C4-32DD-4A71-A476-06DE3E13A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286000"/>
            <a:ext cx="2552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C1CF10-343B-45D7-9059-0C7DC4CEF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5146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test_known.sh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6DE1EA-B0CA-4934-B776-F7CD6120E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62300"/>
            <a:ext cx="2686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65AF38-B218-42D5-AE3F-69601944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90900"/>
            <a:ext cx="2419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Paging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601E30-FDFA-4F8B-8603-31C0BC7E7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62300"/>
            <a:ext cx="2876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F1A7BF-A58C-48CB-B16B-4864FFB26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390900"/>
            <a:ext cx="2609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Known reference string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823998-AE8E-44C0-8E61-517D664F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162300"/>
            <a:ext cx="3162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F92722-0AB0-4C89-8394-180BD5DBC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90900"/>
            <a:ext cx="289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FIFO / LRU fault totals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F6ED0A-2CDD-452E-8DC4-194DF9BC8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162300"/>
            <a:ext cx="2552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DE8AE7-4834-4B8C-ACF4-DB5B23431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3909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test_known.sh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330D93-EE78-40B8-9B81-134E6F827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38600"/>
            <a:ext cx="2686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BE86DB-548D-4EC6-9844-B4349DCD2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67200"/>
            <a:ext cx="2419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Extents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26479D-5436-4D92-A3FD-D808BC09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038600"/>
            <a:ext cx="2876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1FF3554-FE0B-4A39-93AC-025BD8F43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267200"/>
            <a:ext cx="2609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Two real file runs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E605499-ED94-4B1D-A520-88B30D5BE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038600"/>
            <a:ext cx="3162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3B02EF6-9787-4E7C-9C6A-7C23E8563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267200"/>
            <a:ext cx="289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zero verification errors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D589DBF-75B8-47C3-8034-F0A3DC846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038600"/>
            <a:ext cx="2552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5F53ACF-290D-42B6-8FB9-93353A8C9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2672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test_known.sh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F5C213C-A686-47D8-9641-F97E99B24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578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Fail fast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B3EA894-EB2D-4AD8-90EB-C46AE03F3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181600"/>
            <a:ext cx="954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 performance matrix is accepted after a compile failure, oracle mismatch, abnormal child exit, or nonzero data-verification count.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417231B-B2A1-4F16-B758-02D9CC485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Raw CSV and console logs are preserved before summaries or graphs are created.</a:t>
            </a:r>
          </a:p>
        </p:txBody>
      </p:sp>
    </p:spTree>
    <p:extLst>
      <p:ext uri="{BB962C8B-B14F-4D97-AF65-F5344CB8AC3E}">
        <p14:creationId xmlns:p14="http://schemas.microsoft.com/office/powerpoint/2010/main" val="104662887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584435-57F9-4B36-992F-E6EB10D80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SUBMISSION STATUS</a:t>
            </a:r>
          </a:p>
        </p:txBody>
      </p:sp>
      <p:sp>
        <p:nvSpPr>
          <p:cNvPr id="2" name="slide-11-title">
            <a:extLst xmlns:a="http://schemas.openxmlformats.org/drawingml/2006/main">
              <a:ext uri="{FF2B5EF4-FFF2-40B4-BE49-F238E27FC236}">
                <a16:creationId xmlns:a16="http://schemas.microsoft.com/office/drawing/2014/main" id="{551BC792-8F0E-4F9D-893D-965056C07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Native verification is complete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526FCD-D95D-4196-B129-6ED34303D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168759-0121-48C0-BBBA-80E45614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8A9DE6-6A93-45BE-A590-844A1F0D2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52600"/>
            <a:ext cx="33337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ACB287-F156-4C9C-8A55-814AAD769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43100"/>
            <a:ext cx="2914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SOURCE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E9DF6B-33A2-4CC0-BE96-0E83C0AD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76475"/>
            <a:ext cx="2914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D3536F-F6AB-4966-8D61-74D730F96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86075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three requirements committed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BE0483-1C16-4096-AFFB-E8D557C1A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52600"/>
            <a:ext cx="33337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D3E2F0-EB1B-40D4-B2E0-51BC9434B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1943100"/>
            <a:ext cx="2914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84F52C-C5D2-4748-833C-2B27B8E52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276475"/>
            <a:ext cx="2914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9,906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4F83D6-A09D-4F35-B723-1AE5E2BD9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886075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words · 27 rendered pages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4A46E2-BD71-4419-8185-BFB03C4ED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752600"/>
            <a:ext cx="33337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AAB5B5-7B46-4B7F-9A4D-E703E7229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43100"/>
            <a:ext cx="2914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VM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0C5B5B-6CA3-4E5D-A389-D03738904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76475"/>
            <a:ext cx="2914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C26DFB-E515-40E8-8FE2-4C10F2B11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86075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3 tests · 170 data rows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3AABC8-AA52-4CB4-B0ED-DAC157423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38600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Archived native 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473668-A523-4D4B-B104-6E50B9E36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33900"/>
            <a:ext cx="61912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  scheduling matrix · 80 rows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  paging matrix · 72 rows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  extent matrix · 18 rows · zero errors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  MFS preferred-run hits · zero fallbacks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7C8C89-DC0B-4FEA-B2F1-CED356964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076700"/>
            <a:ext cx="43243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21EEF4-DE48-42AD-8F26-58B821DD8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862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VALIDATED PLATFORM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FBCC34-B5D9-4DE7-9F94-B3FCDDE2E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68630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MINIX 3.3.0</a:t>
            </a:r>
          </a:p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i386 · VirtualBox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FE411F-016F-458A-AB46-74BEBF2D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Raw CSV, checksums, test output, and MFS logs are included.</a:t>
            </a:r>
          </a:p>
        </p:txBody>
      </p:sp>
    </p:spTree>
    <p:extLst>
      <p:ext uri="{BB962C8B-B14F-4D97-AF65-F5344CB8AC3E}">
        <p14:creationId xmlns:p14="http://schemas.microsoft.com/office/powerpoint/2010/main" val="193632374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E39B9D-7BAF-40D1-AAE0-9F5372569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FINAL TAKEAWAY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C217B3-1066-4763-B4F7-A6E31D04D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99060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Policy only means something</a:t>
            </a:r>
          </a:p>
          <a:p xmlns:a="http://schemas.openxmlformats.org/drawingml/2006/main">
            <a:pPr algn="l">
              <a:defRPr sz="4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when workload, mechanism,</a:t>
            </a:r>
          </a:p>
          <a:p xmlns:a="http://schemas.openxmlformats.org/drawingml/2006/main">
            <a:pPr algn="l">
              <a:defRPr sz="4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evidence stay aligned.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8FEFBF-82A5-4655-B0F3-FC8A72838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48150"/>
            <a:ext cx="647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7D3195-97C9-4880-8AEB-B8A4AE903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48200"/>
            <a:ext cx="9906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Real processes. Configurable page structures. Real MFS allocation. Reproducible CSV.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AFFD47-7FB1-483A-8A85-70538450B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24550"/>
            <a:ext cx="1000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Ready to submit: final commit, source archive, report, slides, and raw evidence.</a:t>
            </a:r>
          </a:p>
        </p:txBody>
      </p:sp>
    </p:spTree>
    <p:extLst>
      <p:ext uri="{BB962C8B-B14F-4D97-AF65-F5344CB8AC3E}">
        <p14:creationId xmlns:p14="http://schemas.microsoft.com/office/powerpoint/2010/main" val="3428269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2026-08-18T15:12:19.8270000Z</dcterms:created>
  <dcterms:modified xsi:type="dcterms:W3CDTF">2026-08-18T15:12:19.8270000Z</dcterms:modified>
</coreProperties>
</file>