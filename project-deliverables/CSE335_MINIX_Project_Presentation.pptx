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d39c31f911471e" /><Relationship Type="http://schemas.openxmlformats.org/officeDocument/2006/relationships/extended-properties" Target="/docProps/app.xml" Id="R4fe46e74aaf94e48" /><Relationship Type="http://schemas.openxmlformats.org/officeDocument/2006/relationships/officeDocument" Target="/ppt/presentation.xml" Id="R494339ab75b74d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6dd440d7e244fd"/>
  </p:sldMasterIdLst>
  <p:notesMasterIdLst>
    <p:notesMasterId xmlns:r="http://schemas.openxmlformats.org/officeDocument/2006/relationships" r:id="R21c177a62e8641f7"/>
  </p:notesMasterIdLst>
  <p:sldIdLst>
    <p:sldId xmlns:r="http://schemas.openxmlformats.org/officeDocument/2006/relationships" id="256" r:id="R8df3728af84d45e8"/>
    <p:sldId xmlns:r="http://schemas.openxmlformats.org/officeDocument/2006/relationships" id="257" r:id="R170ec5e50f064436"/>
    <p:sldId xmlns:r="http://schemas.openxmlformats.org/officeDocument/2006/relationships" id="258" r:id="R9d5e94230672460c"/>
    <p:sldId xmlns:r="http://schemas.openxmlformats.org/officeDocument/2006/relationships" id="259" r:id="R10704148b2cc459d"/>
    <p:sldId xmlns:r="http://schemas.openxmlformats.org/officeDocument/2006/relationships" id="260" r:id="Rb643eebeef8249d1"/>
    <p:sldId xmlns:r="http://schemas.openxmlformats.org/officeDocument/2006/relationships" id="261" r:id="Rdc5c4910269b4c65"/>
    <p:sldId xmlns:r="http://schemas.openxmlformats.org/officeDocument/2006/relationships" id="262" r:id="Rcf5788e552a044ba"/>
    <p:sldId xmlns:r="http://schemas.openxmlformats.org/officeDocument/2006/relationships" id="263" r:id="R458805fd8d6e4a79"/>
    <p:sldId xmlns:r="http://schemas.openxmlformats.org/officeDocument/2006/relationships" id="264" r:id="Rbe4be656d25241ec"/>
    <p:sldId xmlns:r="http://schemas.openxmlformats.org/officeDocument/2006/relationships" id="265" r:id="R3b54c71ee45d45d8"/>
    <p:sldId xmlns:r="http://schemas.openxmlformats.org/officeDocument/2006/relationships" id="266" r:id="R35bb690592e44b6b"/>
    <p:sldId xmlns:r="http://schemas.openxmlformats.org/officeDocument/2006/relationships" id="267" r:id="Rb85a86a1bcb04c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cb6d6e382142cc" /><Relationship Type="http://schemas.openxmlformats.org/officeDocument/2006/relationships/slideMaster" Target="/ppt/slideMasters/slideMaster1.xml" Id="Rde6dd440d7e244fd" /><Relationship Type="http://schemas.openxmlformats.org/officeDocument/2006/relationships/notesMaster" Target="/ppt/notesMasters/notesMaster1.xml" Id="R21c177a62e8641f7" /><Relationship Type="http://schemas.openxmlformats.org/officeDocument/2006/relationships/presProps" Target="/ppt/presProps.xml" Id="R454a3d3e978e45a7" /><Relationship Type="http://schemas.openxmlformats.org/officeDocument/2006/relationships/tableStyles" Target="/ppt/tableStyles.xml" Id="R0fe99b0848f44a9d" /><Relationship Type="http://schemas.openxmlformats.org/officeDocument/2006/relationships/slide" Target="/ppt/slides/slide1.xml" Id="R8df3728af84d45e8" /><Relationship Type="http://schemas.openxmlformats.org/officeDocument/2006/relationships/slide" Target="/ppt/slides/slide2.xml" Id="R170ec5e50f064436" /><Relationship Type="http://schemas.openxmlformats.org/officeDocument/2006/relationships/slide" Target="/ppt/slides/slide3.xml" Id="R9d5e94230672460c" /><Relationship Type="http://schemas.openxmlformats.org/officeDocument/2006/relationships/slide" Target="/ppt/slides/slide4.xml" Id="R10704148b2cc459d" /><Relationship Type="http://schemas.openxmlformats.org/officeDocument/2006/relationships/slide" Target="/ppt/slides/slide5.xml" Id="Rb643eebeef8249d1" /><Relationship Type="http://schemas.openxmlformats.org/officeDocument/2006/relationships/slide" Target="/ppt/slides/slide6.xml" Id="Rdc5c4910269b4c65" /><Relationship Type="http://schemas.openxmlformats.org/officeDocument/2006/relationships/slide" Target="/ppt/slides/slide7.xml" Id="Rcf5788e552a044ba" /><Relationship Type="http://schemas.openxmlformats.org/officeDocument/2006/relationships/slide" Target="/ppt/slides/slide8.xml" Id="R458805fd8d6e4a79" /><Relationship Type="http://schemas.openxmlformats.org/officeDocument/2006/relationships/slide" Target="/ppt/slides/slide9.xml" Id="Rbe4be656d25241ec" /><Relationship Type="http://schemas.openxmlformats.org/officeDocument/2006/relationships/slide" Target="/ppt/slides/slide10.xml" Id="R3b54c71ee45d45d8" /><Relationship Type="http://schemas.openxmlformats.org/officeDocument/2006/relationships/slide" Target="/ppt/slides/slide11.xml" Id="R35bb690592e44b6b" /><Relationship Type="http://schemas.openxmlformats.org/officeDocument/2006/relationships/slide" Target="/ppt/slides/slide12.xml" Id="Rb85a86a1bcb04c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f9939d6db40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5cb8c30d434865" /><Relationship Type="http://schemas.openxmlformats.org/officeDocument/2006/relationships/notesMaster" Target="/ppt/notesMasters/notesMaster1.xml" Id="Re5845deeed754e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3a8cc5b3494de2" /><Relationship Type="http://schemas.openxmlformats.org/officeDocument/2006/relationships/notesMaster" Target="/ppt/notesMasters/notesMaster1.xml" Id="Rf170877aa1cc4c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17eba89924401b" /><Relationship Type="http://schemas.openxmlformats.org/officeDocument/2006/relationships/notesMaster" Target="/ppt/notesMasters/notesMaster1.xml" Id="R060eab88c2f2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c9e37ff9b4452c" /><Relationship Type="http://schemas.openxmlformats.org/officeDocument/2006/relationships/notesMaster" Target="/ppt/notesMasters/notesMaster1.xml" Id="Re1b4fd7df2894b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ac4bd24b9f4989" /><Relationship Type="http://schemas.openxmlformats.org/officeDocument/2006/relationships/notesMaster" Target="/ppt/notesMasters/notesMaster1.xml" Id="Rb9e2dd6d961a4e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85a9332ae7496f" /><Relationship Type="http://schemas.openxmlformats.org/officeDocument/2006/relationships/notesMaster" Target="/ppt/notesMasters/notesMaster1.xml" Id="Re754a5eb0ff348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a85acf60c24772" /><Relationship Type="http://schemas.openxmlformats.org/officeDocument/2006/relationships/notesMaster" Target="/ppt/notesMasters/notesMaster1.xml" Id="Rd101b03e9c9343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f9ce605736407b" /><Relationship Type="http://schemas.openxmlformats.org/officeDocument/2006/relationships/notesMaster" Target="/ppt/notesMasters/notesMaster1.xml" Id="R267bae23c89747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4c6895633b48e3" /><Relationship Type="http://schemas.openxmlformats.org/officeDocument/2006/relationships/notesMaster" Target="/ppt/notesMasters/notesMaster1.xml" Id="R59a0c63c81674f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14e0336bcc4a21" /><Relationship Type="http://schemas.openxmlformats.org/officeDocument/2006/relationships/notesMaster" Target="/ppt/notesMasters/notesMaster1.xml" Id="R86c4de3f53244c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6d5ccb80554ef7" /><Relationship Type="http://schemas.openxmlformats.org/officeDocument/2006/relationships/notesMaster" Target="/ppt/notesMasters/notesMaster1.xml" Id="R3b96d88477824f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f3ec92e3a74dbb" /><Relationship Type="http://schemas.openxmlformats.org/officeDocument/2006/relationships/notesMaster" Target="/ppt/notesMasters/notesMaster1.xml" Id="Rbbd1ab940e9848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c0cb3999747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46907e28aa4077" /><Relationship Type="http://schemas.openxmlformats.org/officeDocument/2006/relationships/slideLayout" Target="/ppt/slideLayouts/slideLayout1.xml" Id="R18209ec892e543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9ec892e543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ddb66991c4b1b" /><Relationship Type="http://schemas.openxmlformats.org/officeDocument/2006/relationships/notesSlide" Target="/ppt/notesSlides/notesSlide1.xml" Id="R797b1a198cd348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9ba89e7e04fff" /><Relationship Type="http://schemas.openxmlformats.org/officeDocument/2006/relationships/notesSlide" Target="/ppt/notesSlides/notesSlide2.xml" Id="Rf25c36129845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e3361b97b44a5" /><Relationship Type="http://schemas.openxmlformats.org/officeDocument/2006/relationships/notesSlide" Target="/ppt/notesSlides/notesSlide3.xml" Id="R062a16c31dff46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6dd1d47344782" /><Relationship Type="http://schemas.openxmlformats.org/officeDocument/2006/relationships/notesSlide" Target="/ppt/notesSlides/notesSlide4.xml" Id="Ra6a3ed73bcb1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92915c8034c23" /><Relationship Type="http://schemas.openxmlformats.org/officeDocument/2006/relationships/chart" Target="/ppt/slides/charts/chart1.xml" Id="Rf8b43d78a07c4216" /><Relationship Type="http://schemas.openxmlformats.org/officeDocument/2006/relationships/notesSlide" Target="/ppt/notesSlides/notesSlide5.xml" Id="R72cd9e02723047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db371562d4c47" /><Relationship Type="http://schemas.openxmlformats.org/officeDocument/2006/relationships/notesSlide" Target="/ppt/notesSlides/notesSlide6.xml" Id="Re9a11b238f7645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30fa62b8343bf" /><Relationship Type="http://schemas.openxmlformats.org/officeDocument/2006/relationships/chart" Target="/ppt/slides/charts/chart2.xml" Id="R4ee9e3b0dfed41c1" /><Relationship Type="http://schemas.openxmlformats.org/officeDocument/2006/relationships/notesSlide" Target="/ppt/notesSlides/notesSlide7.xml" Id="R32b36f3445d84d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4e0b7b93e4839" /><Relationship Type="http://schemas.openxmlformats.org/officeDocument/2006/relationships/notesSlide" Target="/ppt/notesSlides/notesSlide8.xml" Id="Rd4f0db62c9bd41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a5b596ae54777" /><Relationship Type="http://schemas.openxmlformats.org/officeDocument/2006/relationships/notesSlide" Target="/ppt/notesSlides/notesSlide9.xml" Id="R81d37d0d6c3d44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5e48885174286" /><Relationship Type="http://schemas.openxmlformats.org/officeDocument/2006/relationships/notesSlide" Target="/ppt/notesSlides/notesSlide10.xml" Id="Rf335a1957c5643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2f2385fa64f48" /><Relationship Type="http://schemas.openxmlformats.org/officeDocument/2006/relationships/notesSlide" Target="/ppt/notesSlides/notesSlide11.xml" Id="R5559f17c458d43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b7bca499940e8" /><Relationship Type="http://schemas.openxmlformats.org/officeDocument/2006/relationships/notesSlide" Target="/ppt/notesSlides/notesSlide12.xml" Id="R47ff6bb7008b4bf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Turnaround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RR</c:v>
              </c:pt>
              <c:pt idx="1">
                <c:v>SJF</c:v>
              </c:pt>
              <c:pt idx="2">
                <c:v>Priority</c:v>
              </c:pt>
              <c:pt idx="3">
                <c:v>MLFQ</c:v>
              </c:pt>
            </c:strLit>
          </c:cat>
          <c:val>
            <c:numLit>
              <c:formatCode>General</c:formatCode>
              <c:ptCount val="4"/>
              <c:pt idx="0">
                <c:v>185</c:v>
              </c:pt>
              <c:pt idx="1">
                <c:v>137</c:v>
              </c:pt>
              <c:pt idx="2">
                <c:v>155</c:v>
              </c:pt>
              <c:pt idx="3">
                <c:v>191</c:v>
              </c:pt>
            </c:numLit>
          </c:val>
        </c:ser>
        <c:ser>
          <c:idx val="1"/>
          <c:order val="1"/>
          <c:tx>
            <c:v>Waiting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RR</c:v>
              </c:pt>
              <c:pt idx="1">
                <c:v>SJF</c:v>
              </c:pt>
              <c:pt idx="2">
                <c:v>Priority</c:v>
              </c:pt>
              <c:pt idx="3">
                <c:v>MLFQ</c:v>
              </c:pt>
            </c:strLit>
          </c:cat>
          <c:val>
            <c:numLit>
              <c:formatCode>General</c:formatCode>
              <c:ptCount val="4"/>
              <c:pt idx="0">
                <c:v>133</c:v>
              </c:pt>
              <c:pt idx="1">
                <c:v>85</c:v>
              </c:pt>
              <c:pt idx="2">
                <c:v>103</c:v>
              </c:pt>
              <c:pt idx="3">
                <c:v>139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0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FIFO</c:v>
          </c:tx>
          <c:spPr>
            <a:solidFill xmlns:a="http://schemas.openxmlformats.org/drawingml/2006/main">
              <a:srgbClr val="6DCBF4"/>
            </a:solidFill>
            <a:ln xmlns:a="http://schemas.openxmlformats.org/drawingml/2006/main" w="28575">
              <a:solidFill>
                <a:srgbClr val="6DCBF4"/>
              </a:solidFill>
            </a:ln>
          </c:spPr>
          <c:marker>
            <c:symbol val="none"/>
          </c:marker>
          <c:cat>
            <c:strLit>
              <c:ptCount val="4"/>
              <c:pt idx="0">
                <c:v>1 KiB</c:v>
              </c:pt>
              <c:pt idx="1">
                <c:v>2 KiB</c:v>
              </c:pt>
              <c:pt idx="2">
                <c:v>4 KiB</c:v>
              </c:pt>
              <c:pt idx="3">
                <c:v>8 KiB</c:v>
              </c:pt>
            </c:strLit>
          </c:cat>
          <c:val>
            <c:numLit>
              <c:formatCode>General</c:formatCode>
              <c:ptCount val="4"/>
              <c:pt idx="0">
                <c:v>6937</c:v>
              </c:pt>
              <c:pt idx="1">
                <c:v>4735</c:v>
              </c:pt>
              <c:pt idx="2">
                <c:v>2666</c:v>
              </c:pt>
              <c:pt idx="3">
                <c:v>1378</c:v>
              </c:pt>
            </c:numLit>
          </c:val>
        </c:ser>
        <c:ser>
          <c:idx val="1"/>
          <c:order val="1"/>
          <c:tx>
            <c:v>LRU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</a:ln>
          </c:spPr>
          <c:marker>
            <c:symbol val="none"/>
          </c:marker>
          <c:cat>
            <c:strLit>
              <c:ptCount val="4"/>
              <c:pt idx="0">
                <c:v>1 KiB</c:v>
              </c:pt>
              <c:pt idx="1">
                <c:v>2 KiB</c:v>
              </c:pt>
              <c:pt idx="2">
                <c:v>4 KiB</c:v>
              </c:pt>
              <c:pt idx="3">
                <c:v>8 KiB</c:v>
              </c:pt>
            </c:strLit>
          </c:cat>
          <c:val>
            <c:numLit>
              <c:formatCode>General</c:formatCode>
              <c:ptCount val="4"/>
              <c:pt idx="0">
                <c:v>6791</c:v>
              </c:pt>
              <c:pt idx="1">
                <c:v>4047</c:v>
              </c:pt>
              <c:pt idx="2">
                <c:v>1655</c:v>
              </c:pt>
              <c:pt idx="3">
                <c:v>1064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4373D-3EBD-4876-B0CC-A7D62475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CSE335  ·  SUMMER 2026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AC1EF3A-2A4A-434D-A418-175FEBFE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9906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Scheduling, paging,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extent-aware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0E27C-1BC7-4A79-9761-ADABAE0F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5EB92-9617-4D8C-BA89-65C950AF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Three reproducible experiments inside MINIX 3.3.0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AC22E-2E82-4067-8406-25A62BC5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Jana · Mohamed · Abdelrahman · Mostafa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2E64F-6B03-4865-8A79-7107F03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Source · tests · report ·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76795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89193-34CA-4A95-B0F5-9E887097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C3707F6-6F97-437C-AB05-7D67669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clean baseline, three controlled interventions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27EAD-1DE1-44B6-9E65-849FB154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B8D40-165A-4297-8B07-EC1C3536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F3BEC-120D-47E4-8418-AA62C726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BF80D-6663-48F1-B3EC-B7233A6D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REQUIREMENT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6CF67-B25C-46DE-BF21-774CF9CE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FAEAC-7FAE-4485-AC8D-443621A4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RR · SJF · priority · MLFQ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89383-25AA-498C-8D30-441FC237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87D0E-A919-4FC4-9031-421B3232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145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REQUIREMENT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27FC4-AAF8-4A19-B217-53534431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4792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policies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8EB4E-17A2-44A0-9702-76931AF3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5752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FIFO · exact LRU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67FFD-55EF-42AC-A579-6FC9D64C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9CA0A-FA9E-4F97-AC07-3ED34091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REQUIREMENT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54C26-31A4-408D-BD67-21D7EC36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4792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 extents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0FCEE-9788-494C-A843-506E2F18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1 · 2 · 4 · 8 · 16 · 32 blocks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0C67E-012B-4B33-ADEF-EB7757AD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Baseline tag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60609-0EC0-43CE-8130-663CB350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baseline-v3.3.0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9433D-4F45-4E72-ADB8-79C9A914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7353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experiment reads text configuration and writes CSV. All three native matrices and their validation log are archived with the submission.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84789-AACF-4E94-8C83-188E68B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Repository history makes every change reviewable against the untouched release.</a:t>
            </a:r>
          </a:p>
        </p:txBody>
      </p:sp>
    </p:spTree>
    <p:extLst>
      <p:ext uri="{BB962C8B-B14F-4D97-AF65-F5344CB8AC3E}">
        <p14:creationId xmlns:p14="http://schemas.microsoft.com/office/powerpoint/2010/main" val="2011271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923F2-ECA1-421A-8F32-0A0BD776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87F4A44-8538-41AF-85D8-C1D2410E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design respects MINIX subsystem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79716-38B3-43AF-BA7A-58B3296A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95DB8-B374-49EE-A5B4-F352B8C2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BB09F-8EDD-46B8-A538-1C1A3434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3524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CA7FF-C90D-4CEF-A5EF-EA50E990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REAL WORKERS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AA9C1-0239-4431-A8A8-BB985853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067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fork + pipes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controlled dispatch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logical policy metrics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wall-time confirmation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37E54-DAB2-4A5B-88E7-2ACB3065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28800"/>
            <a:ext cx="3524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400F8-334B-4512-A824-56B0F8E4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764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SOFTWARE VM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3C352-8C80-45B5-9AB8-A305F429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09850"/>
            <a:ext cx="3067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sparse hierarchy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byte-address trace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FIFO / LRU frames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native CSV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8F4B9-C81E-4759-B4D5-9D6EEE5A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28800"/>
            <a:ext cx="3524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13295-A702-4888-92DE-FC471127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REAL MFS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FA803-95E6-4255-9429-BC76FAEE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3067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zone bitmap scan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allocation origin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 fallback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unmount counters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2A2FA-5D1F-4285-A724-B8D9AD0A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experiment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AC6AC-E679-4E78-94CA-7265F6D0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149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Production allocation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E98D1-3581-413E-9C89-69AEDB03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The configurable paging hierarchy does not claim to reprogram x86 MMU geometry.</a:t>
            </a:r>
          </a:p>
        </p:txBody>
      </p:sp>
    </p:spTree>
    <p:extLst>
      <p:ext uri="{BB962C8B-B14F-4D97-AF65-F5344CB8AC3E}">
        <p14:creationId xmlns:p14="http://schemas.microsoft.com/office/powerpoint/2010/main" val="1719513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E8265-E952-481C-8305-733F349F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REQUIREMENT 1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F4C0874-3301-4277-A5F4-F5E6C77A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child processes make policy effects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0EC3A-9E96-48F8-B2CF-B0220277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8A806-EEA2-4C44-BEF5-076981B5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258C8-37A4-4BA2-AAA8-850D0D2F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9146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D1BDE-7164-4C79-93E0-870CA8E8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AE282-C2FD-42E0-97AF-86EDB61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343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 policy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advance logical time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01221-CCD4-459E-9428-F4349D65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BE833-5941-4029-9E09-2F9E5EC5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05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WORKER P1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16A91-BBEE-4390-B4B5-212D5EBA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CPU work → reply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D692D-9ED3-4A04-8B64-B6400851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ED02C-16BE-4D6A-B16A-DF34ECA7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E3D51-8B9C-4676-9792-C6789975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WORKER P2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0384E-DF7D-48AB-BBB7-435379D7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14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CPU work → reply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45AF4-712B-431D-920A-300BC8CD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67075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BA337-8C69-4CBA-B7A2-887CA9B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95F3E-1A9D-4375-947C-F7EDEB2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5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WORKER P3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7D312-0EA9-4BC2-9FFB-3EBFD358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38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CPU work → reply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380DF-19DC-4DE5-B333-19B0362F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91025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8B34D-8790-4A31-B136-88672993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Logical clock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2A312-C69C-47C4-90B4-8C2611EC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turnaround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waiting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response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makespan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00622-3DBE-4E26-B766-07794849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Wall clock confirms actual execution; it does not distort logical policy metrics.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21FD0-BFE0-418D-B990-7E12BD90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Children exist from startup but become eligible only at their configured logical arrival.</a:t>
            </a:r>
          </a:p>
        </p:txBody>
      </p:sp>
    </p:spTree>
    <p:extLst>
      <p:ext uri="{BB962C8B-B14F-4D97-AF65-F5344CB8AC3E}">
        <p14:creationId xmlns:p14="http://schemas.microsoft.com/office/powerpoint/2010/main" val="733553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DFB8B-C8E4-486C-9F7F-1E70B902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REQUIREMENT 1 · NATIVE MINIX RESULT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D9168F0-AA3C-4850-A864-8A5E9A66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SJF minimizes mean waiting on the known workload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9329C-94E9-446D-95F9-3716A93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318AF-1C8B-4AC2-B571-B787D84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b43d78a07c421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27CE7-C5C1-4445-9AED-B031FFA9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32575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E5C9A-34F5-41D5-B8B8-E0DE6B5B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FASTEST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E36AD-09F8-46D2-92FE-07D01D7E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14575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4057E-CA91-4DE4-9BB1-9465F766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2417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MLFQ average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51949-BC05-44A1-813A-4208DEB0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32575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6941E-4603-4F82-8BC1-A2B53C54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FEWEST DISPATCHES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6D60C-2A2C-42DD-894B-EE9A870B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76725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5AC35-A51A-49C3-8189-2CCED62F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8632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SJF and 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ED388-11C9-4BAC-A688-CBEB8385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Measured from known.conf in MINIX; test_known.sh verified the CSV.</a:t>
            </a:r>
          </a:p>
        </p:txBody>
      </p:sp>
    </p:spTree>
    <p:extLst>
      <p:ext uri="{BB962C8B-B14F-4D97-AF65-F5344CB8AC3E}">
        <p14:creationId xmlns:p14="http://schemas.microsoft.com/office/powerpoint/2010/main" val="9160752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7AE5A-4305-48FE-87D5-51A20231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REQUIREMENT 2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5B03B74-070F-4BC8-963C-D74D764A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 geometry is configurable—and validated exactly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A0C93-EF1B-4337-AE7A-C0C98A62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E075E-3E56-46B2-A3B0-374EC7E7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CF2AC-8993-4569-9E05-01FB631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32-bit virtual address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66C63-B8FC-431A-86B1-918F9C13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1041F-E074-46D6-B2FC-72750454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LEVEL 1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10 bits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86297-4F69-489C-9183-5F95C760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75986-A536-4D62-BA24-304FB292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LEVEL 2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 bits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B21EB-4870-4A96-9165-4C999F5D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400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7416B-CF71-4638-A86C-FAE77878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PAGE OFFSET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12 bits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23F40-816F-4843-BB2B-90DAEDE2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727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virtual page number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9FE42-0A05-471C-896D-8DB44CB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52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byte offset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0F7B8-64E2-4C4F-BB00-D28B723A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0C5B0-E46D-415A-9D0D-BCBB654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Invariant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D778F-1061-4F8D-9642-B50921F3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958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Σ level bits + log₂(page size) = address bits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3CAA1-2031-44DC-BCBD-9FE39F2A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Sparse nodes are allocated only for hierarchy paths touched by the byte-address trace.</a:t>
            </a:r>
          </a:p>
        </p:txBody>
      </p:sp>
    </p:spTree>
    <p:extLst>
      <p:ext uri="{BB962C8B-B14F-4D97-AF65-F5344CB8AC3E}">
        <p14:creationId xmlns:p14="http://schemas.microsoft.com/office/powerpoint/2010/main" val="1921684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2FCF5-EDF3-4BFC-9C3B-D47160C3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REQUIREMENT 2 · NATIVE MINIX MATRIX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C2890A95-E855-4250-868F-0649A73B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Larger pages reduce faults for this fixed-byte locality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B84A0-3104-4133-BA96-F2B46230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2B8E6-3279-42B7-AD9E-3BA48B6F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e9e3b0dfed41c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2795C-C705-45DB-B008-FED7A60B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5813C-8AB9-499E-8DAE-DB30944E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frame covers more of the same byte working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LRU benefits more because the trace has locality.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does not prove that the largest page is universally best.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FA431-6C0E-4E92-AB03-6BE3EF7B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64 simulated frames · 10,000 references · measured in the native MINIX matrix.</a:t>
            </a:r>
          </a:p>
        </p:txBody>
      </p:sp>
    </p:spTree>
    <p:extLst>
      <p:ext uri="{BB962C8B-B14F-4D97-AF65-F5344CB8AC3E}">
        <p14:creationId xmlns:p14="http://schemas.microsoft.com/office/powerpoint/2010/main" val="1353569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BC882-FECC-42FE-AF39-DC36B1F7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REQUIREMENT 3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B1B6AC5-5698-419F-B5E1-765BEF58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MFS prefers a free run without changing its disk format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69CBE-B104-4863-8A4D-3F128CE5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C9A21-2D46-47E1-A378-FC015F5E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FC6F3-3BEF-46E4-987F-07FF9F6B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2362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99926-6AAF-4976-AC71-79A812ED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WRITE NEEDS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NEW ZONE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F2FBD-10C5-43ED-B332-69446FC8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037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16B0D-0E5F-42F5-9142-8C41F9A9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71700"/>
            <a:ext cx="2362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317EA-0268-4CB5-BEBE-9BA4694C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9080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SCAN BITMAP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N 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0F2EC-583D-4289-B97B-DF578E25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037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12D5C-D4B3-4712-B4F3-8B2F6F38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362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EDE9F-829C-4773-B52B-3A1AF4B1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ALLOCATE AT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E9202-7012-47B7-A2B0-1AABDDEB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7E378-CA00-435C-8658-7A4C3D5E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362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24519-4D22-4678-9294-C4147530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BACK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IF N/A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96F86-D6A6-4ACD-ABE9-24F8AE5C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Consistency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9CC7B-167E-4268-96BB-1A2203C0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81500"/>
            <a:ext cx="843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scan is read-only. Only the original allocator marks a zone allocated, so there are no invisible reservations to leak after a crash.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37470-1356-4293-9FE6-19DAF340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843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On-disk inode and indirect-zone structures remain unchanged.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C8A06-761E-4087-B0CF-5A5D37B5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mfs_extent_size=1 preserves stock behavior; allowed range is 1–1,024 zones.</a:t>
            </a:r>
          </a:p>
        </p:txBody>
      </p:sp>
    </p:spTree>
    <p:extLst>
      <p:ext uri="{BB962C8B-B14F-4D97-AF65-F5344CB8AC3E}">
        <p14:creationId xmlns:p14="http://schemas.microsoft.com/office/powerpoint/2010/main" val="1472080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D90E2C-0F39-4E06-A71A-F472E654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REQUIREMENT 3 · BENCHMARK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10D337C-B342-418B-9B41-DCFAE531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Correctness is measured before throughput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F39DF-DCFE-497D-9EF9-93F54D7E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3B5CC-3CEF-438B-9363-9B4A399D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4AABA-4DB1-48CF-92BD-6A48A885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098C3-13AD-47C5-8E06-48A311D4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mkdir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3817B-3402-4873-9A31-1875C35E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00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FE8FB-CA41-4AD6-98F9-D36FF46C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19300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9F4EF-7DB1-4925-BB3B-9C267E09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7B8AE-1584-4DD5-801F-B2FD54B9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0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7C6C7-1699-4871-97F5-6FB7D6FD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19300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CB334-722D-46EC-A2CD-B3BE5C85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F9524-E6D8-42FE-B3D0-0A9F8CB7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B4F8F-7660-4C74-8FBA-DD679FE8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6E858-5304-42EE-9E72-998C889A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fsync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9E34B-09DA-4FD8-A1F5-6B838B7E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D75D2-CAB7-4D15-95FB-3AB815AC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7AB5E-9606-4371-9B07-DB093442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06B71-C82F-4277-A15B-D9F13FA0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00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ADF5C-5745-4A6F-B813-0DDDDFF0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19300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1351A-A466-43C2-8DDF-5049405F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19DE9-0123-4FBA-9846-5AAE1A9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29FFD-5766-4C5A-9119-FD8864E6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19300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A5088-A910-401A-99E5-821A6172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unlink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31C87-31AC-4F91-B8F4-106B96A8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5EC4A-2F1D-4CA5-8D83-E87D23B2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19300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8CC93B-BDB3-4538-A604-D4AFE7D8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rmdir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AEB43F-F701-42D2-8BF2-D42DF9A0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3276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CB55A-702C-4BB3-8142-710E3698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CORRECTNESS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8369EE-8D74-4985-8058-2620A78D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 errors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24F12-8A3D-490A-BC24-15CD1576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byte-for-byte pattern check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90DEA7-F9C6-41F6-BCDC-2940BD74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3276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05EB27-8395-436F-9B17-763BBE7E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MATRIX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ACB439-68ED-4140-ACF1-8EA4E604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338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18 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1A7E97-BCD5-48C4-BF77-6E61D93F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434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6 preferences × 3 runs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E8CA33-F796-4E75-95AB-078CF071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3276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084A2D-668D-4B97-888D-6C74134E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RAW METRICS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16DA39-13CA-4A78-9F32-912503BA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338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clocks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92E50D-39F2-4889-AB65-F7B7F0E9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434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create · write · read · remove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9B52BB-C823-40B6-B1D4-ED9A511F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Run only on a disposable secondary MFS mount with matching service and benchmark extent sizes.</a:t>
            </a:r>
          </a:p>
        </p:txBody>
      </p:sp>
    </p:spTree>
    <p:extLst>
      <p:ext uri="{BB962C8B-B14F-4D97-AF65-F5344CB8AC3E}">
        <p14:creationId xmlns:p14="http://schemas.microsoft.com/office/powerpoint/2010/main" val="12543850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296044-ABF7-4311-B62D-C5155B42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40FCADCB-411E-4B26-82D9-0DB1EB96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smoke tests guard the experiment matrices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79F0B-3FFE-456E-AF1A-18781A42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4635D-6526-4CB7-B704-DFB3AE93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617AE-BDE2-409A-B104-5A14030D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0AB0C-E9EF-4D6D-97D1-593431A1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D9BEA-C815-4381-B727-88BB18D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287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B1BB1-D7B8-4EB2-B0A7-1D498F7C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240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ORACLE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E7ABC-3DED-4992-94DA-65A9393A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3162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9A706-ADA9-487F-80BF-0003984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3C5CA-5780-45DC-BCE6-2E73ADC9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2552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2B2CD-5C67-4721-9CBD-1E121B43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24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A7E9B-8E14-49B3-A87F-AC241449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2686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AC753-5C64-4D47-AD93-F17C01B5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Scheduling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CDF14-A656-4D22-B112-BE7D992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876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E912F-0B5D-4F93-B62C-A5B1BCCE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 averages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A5DBB-9C08-4A81-9EE7-F0CE38BB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3162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893BF-AD3F-4D7F-A0A1-E62FDEA5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CSV rows + child exit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874C6-42ED-4881-BC75-F6F00F46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8600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949E3-4C7F-4A1B-83C3-2816224D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test_known.sh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4D392-BBDE-48E1-B0F1-10F839CC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686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EB6AB-3257-4AE3-A153-75CD571F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030A3-6D57-4FE8-9A03-643D8F47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2876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3B786-E92C-4543-8BA9-4F938DCE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909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 reference string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C483B-EE89-4251-A456-FED3F25F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3162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644AD-AA0B-4976-B917-CEE55693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909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FIFO / LRU fault totals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8A6A5-7CC6-42BD-89EA-46E07C6C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25F3D-1D6D-499D-829E-FE0DEAF5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909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test_known.sh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AEBD38-640B-476A-8FA3-1C5F1B87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2686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F2590-CC9C-4BB5-ACC3-0581F237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F775A-EE39-4CAC-9C5E-0AC1629B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2876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488499-D917-4BB0-A77F-7DDF8C4C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real file runs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D0BECE-8EE7-4890-B12F-1E399979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3162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8AAADB-E7FF-4627-8146-2989B959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67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zero verification errors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A0DB26-8369-44E3-8D28-2E6F337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3860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0C6802-53F4-45B6-B940-254FA8F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672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test_known.sh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C499C-9FE0-4E02-9CC3-EEEC2D7E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Fail fast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CCE3BE-0BD4-4F74-9B97-F1F7322F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81600"/>
            <a:ext cx="954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performance matrix is accepted after a compile failure, oracle mismatch, abnormal child exit, or nonzero data-verification count.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18BDFF-1380-4C07-ADFF-CFE1EE45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Raw CSV and console logs are preserved before summaries or graphs are created.</a:t>
            </a:r>
          </a:p>
        </p:txBody>
      </p:sp>
    </p:spTree>
    <p:extLst>
      <p:ext uri="{BB962C8B-B14F-4D97-AF65-F5344CB8AC3E}">
        <p14:creationId xmlns:p14="http://schemas.microsoft.com/office/powerpoint/2010/main" val="6286127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80DCA-935C-4F1C-9DD9-4624F2D5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VERIFICATION SUMMARY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EADB295-7F05-4B2F-8B3B-7250DB71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Native verification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74961-D25F-4B21-A7CC-BDDEF4AD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4AE1C-AE99-467B-8A9A-6362755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94C45-D082-49EC-A9B9-F3E2C5EA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333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3B0E4-9004-459B-8A23-D2F1C97C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92E49-08A5-4DCA-A2ED-97ABDC87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D920B-35EF-48B0-9CEE-3B755AB9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three requirements committed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01DF5-95DD-4854-AEBA-6A77C6B0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F1BCB-FF50-4A73-8C3C-482CBB25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431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570A2-BDAE-41F7-B73A-D184FCBB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76475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8,127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60DD7-298E-476B-BFCF-7845F47F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860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words · 28 rendered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8B7E0-80BA-481C-A550-7F2C3FBE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52600"/>
            <a:ext cx="3333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07C91-23F9-4231-84A9-45558964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431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VM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5901C-3BDF-405F-B295-BC1735ED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76475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70F1D-24A1-4EA3-B93B-F445DEFD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860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3 tests · 170 data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E4576-4589-49AC-ACEF-8CDB9B39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Archived native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69C7B-BA88-4A1F-86E4-EB5C7CDD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 scheduling matrix · 80 rows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 paging matrix · 72 rows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 extent matrix · 18 rows · zero errors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 MFS preferred-run hits · zero fallbacks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E6E1B-DA66-4A82-8DA0-B17D04D6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76700"/>
            <a:ext cx="4324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DCA58-591E-4298-8C5C-19CEFA02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86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TEST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703A1-2356-443E-8B07-04926331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8630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MINIX 3.3.0</a:t>
            </a:r>
          </a:p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i386 · VirtualBox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70B5B-F2C2-426C-8294-C4E014EF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Raw CSV, checksums, test output, and MFS logs are included.</a:t>
            </a:r>
          </a:p>
        </p:txBody>
      </p:sp>
    </p:spTree>
    <p:extLst>
      <p:ext uri="{BB962C8B-B14F-4D97-AF65-F5344CB8AC3E}">
        <p14:creationId xmlns:p14="http://schemas.microsoft.com/office/powerpoint/2010/main" val="11687688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9ED3D-7E91-4993-82C4-FC178E67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5B65"/>
                </a:solidFill>
                <a:latin typeface="Arial"/>
                <a:ea typeface="Arial"/>
                <a:cs typeface="Arial"/>
              </a:rPr>
              <a:t>FINAL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0DB49-D4AC-4D94-A394-6310B9B4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9906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only means something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workload, mechanism,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evidence stay aligned.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735AD-54E4-4569-850F-09C556A5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647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AF640-42F7-4F72-A161-413EF3A4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Real processes. Configurable page structures. Real MFS allocation. Reproducible 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87AED-3A36-408D-9C74-83D029F0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Source, report, presentation, configurations, tests, and evidence are archived together.</a:t>
            </a:r>
          </a:p>
        </p:txBody>
      </p:sp>
    </p:spTree>
    <p:extLst>
      <p:ext uri="{BB962C8B-B14F-4D97-AF65-F5344CB8AC3E}">
        <p14:creationId xmlns:p14="http://schemas.microsoft.com/office/powerpoint/2010/main" val="287093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PowerPoint</ap:Application>
  <ap:PresentationFormat>On-screen Show (16:9)</ap:PresentationFormat>
  <ap:Slides>12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Jana Ahmed Saieed; Mohamed Ehab Abdelbary Ibrahem; Abdelrahman Ashour Hassan; Mostafa Hamdy Mohamed Elzoghby</dc:creator>
  <lastModifiedBy>Jana Ahmed Saieed; Mohamed Ehab Abdelbary Ibrahem; Abdelrahman Ashour Hassan; Mostafa Hamdy Mohamed Elzoghby</lastModifiedBy>
  <dc:title>CSE335 MINIX 3.3.0 Project</dc:title>
  <dcterms:created xsi:type="dcterms:W3CDTF">2026-08-18T18:44:27.2920000Z</dcterms:created>
  <dcterms:modified xsi:type="dcterms:W3CDTF">2026-08-18T18:44:27.2920000Z</dcterms:modified>
</coreProperties>
</file>