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82d9ea56344f6d" /><Relationship Type="http://schemas.openxmlformats.org/officeDocument/2006/relationships/extended-properties" Target="/docProps/app.xml" Id="R49597319bc394b85" /><Relationship Type="http://schemas.openxmlformats.org/officeDocument/2006/relationships/officeDocument" Target="/ppt/presentation.xml" Id="Rdfa2db0203e64ac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5bf2311530a4e7c"/>
  </p:sldMasterIdLst>
  <p:notesMasterIdLst>
    <p:notesMasterId xmlns:r="http://schemas.openxmlformats.org/officeDocument/2006/relationships" r:id="Rdbca8ffb7775478f"/>
  </p:notesMasterIdLst>
  <p:sldIdLst>
    <p:sldId xmlns:r="http://schemas.openxmlformats.org/officeDocument/2006/relationships" id="256" r:id="R0d944d2f3f574387"/>
    <p:sldId xmlns:r="http://schemas.openxmlformats.org/officeDocument/2006/relationships" id="257" r:id="R17dfdecea4294f78"/>
    <p:sldId xmlns:r="http://schemas.openxmlformats.org/officeDocument/2006/relationships" id="258" r:id="Rf3f648efab4c4f88"/>
    <p:sldId xmlns:r="http://schemas.openxmlformats.org/officeDocument/2006/relationships" id="259" r:id="R5e6584ec40594116"/>
    <p:sldId xmlns:r="http://schemas.openxmlformats.org/officeDocument/2006/relationships" id="260" r:id="Rf76d0a06eff4479d"/>
    <p:sldId xmlns:r="http://schemas.openxmlformats.org/officeDocument/2006/relationships" id="261" r:id="Rbd47440401144ffb"/>
    <p:sldId xmlns:r="http://schemas.openxmlformats.org/officeDocument/2006/relationships" id="262" r:id="Rbb46862866984483"/>
    <p:sldId xmlns:r="http://schemas.openxmlformats.org/officeDocument/2006/relationships" id="263" r:id="R2bbe44e0456542d7"/>
    <p:sldId xmlns:r="http://schemas.openxmlformats.org/officeDocument/2006/relationships" id="264" r:id="Rd04769ee96014216"/>
    <p:sldId xmlns:r="http://schemas.openxmlformats.org/officeDocument/2006/relationships" id="265" r:id="Rdaf356ba6e134c6d"/>
    <p:sldId xmlns:r="http://schemas.openxmlformats.org/officeDocument/2006/relationships" id="266" r:id="Rf846f762df534028"/>
    <p:sldId xmlns:r="http://schemas.openxmlformats.org/officeDocument/2006/relationships" id="267" r:id="R3a7fa95bd201459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b01aa8269c4f8c" /><Relationship Type="http://schemas.openxmlformats.org/officeDocument/2006/relationships/slideMaster" Target="/ppt/slideMasters/slideMaster1.xml" Id="Ra5bf2311530a4e7c" /><Relationship Type="http://schemas.openxmlformats.org/officeDocument/2006/relationships/notesMaster" Target="/ppt/notesMasters/notesMaster1.xml" Id="Rdbca8ffb7775478f" /><Relationship Type="http://schemas.openxmlformats.org/officeDocument/2006/relationships/presProps" Target="/ppt/presProps.xml" Id="R5381eb1ea4854402" /><Relationship Type="http://schemas.openxmlformats.org/officeDocument/2006/relationships/tableStyles" Target="/ppt/tableStyles.xml" Id="R5d767745bd924330" /><Relationship Type="http://schemas.openxmlformats.org/officeDocument/2006/relationships/slide" Target="/ppt/slides/slide1.xml" Id="R0d944d2f3f574387" /><Relationship Type="http://schemas.openxmlformats.org/officeDocument/2006/relationships/slide" Target="/ppt/slides/slide2.xml" Id="R17dfdecea4294f78" /><Relationship Type="http://schemas.openxmlformats.org/officeDocument/2006/relationships/slide" Target="/ppt/slides/slide3.xml" Id="Rf3f648efab4c4f88" /><Relationship Type="http://schemas.openxmlformats.org/officeDocument/2006/relationships/slide" Target="/ppt/slides/slide4.xml" Id="R5e6584ec40594116" /><Relationship Type="http://schemas.openxmlformats.org/officeDocument/2006/relationships/slide" Target="/ppt/slides/slide5.xml" Id="Rf76d0a06eff4479d" /><Relationship Type="http://schemas.openxmlformats.org/officeDocument/2006/relationships/slide" Target="/ppt/slides/slide6.xml" Id="Rbd47440401144ffb" /><Relationship Type="http://schemas.openxmlformats.org/officeDocument/2006/relationships/slide" Target="/ppt/slides/slide7.xml" Id="Rbb46862866984483" /><Relationship Type="http://schemas.openxmlformats.org/officeDocument/2006/relationships/slide" Target="/ppt/slides/slide8.xml" Id="R2bbe44e0456542d7" /><Relationship Type="http://schemas.openxmlformats.org/officeDocument/2006/relationships/slide" Target="/ppt/slides/slide9.xml" Id="Rd04769ee96014216" /><Relationship Type="http://schemas.openxmlformats.org/officeDocument/2006/relationships/slide" Target="/ppt/slides/slide10.xml" Id="Rdaf356ba6e134c6d" /><Relationship Type="http://schemas.openxmlformats.org/officeDocument/2006/relationships/slide" Target="/ppt/slides/slide11.xml" Id="Rf846f762df534028" /><Relationship Type="http://schemas.openxmlformats.org/officeDocument/2006/relationships/slide" Target="/ppt/slides/slide12.xml" Id="R3a7fa95bd20145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1e23ae9c3948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ba7df5a1fe64d3a" /><Relationship Type="http://schemas.openxmlformats.org/officeDocument/2006/relationships/notesMaster" Target="/ppt/notesMasters/notesMaster1.xml" Id="R298c3bf82d4244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7007fac6ea42c5" /><Relationship Type="http://schemas.openxmlformats.org/officeDocument/2006/relationships/notesMaster" Target="/ppt/notesMasters/notesMaster1.xml" Id="R8ca748c957ea41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b323d2a4b5749f3" /><Relationship Type="http://schemas.openxmlformats.org/officeDocument/2006/relationships/notesMaster" Target="/ppt/notesMasters/notesMaster1.xml" Id="R83d3d1aa5ce84bc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643e5b1336c43b4" /><Relationship Type="http://schemas.openxmlformats.org/officeDocument/2006/relationships/notesMaster" Target="/ppt/notesMasters/notesMaster1.xml" Id="Raab25888682247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05a4e47da9a43fc" /><Relationship Type="http://schemas.openxmlformats.org/officeDocument/2006/relationships/notesMaster" Target="/ppt/notesMasters/notesMaster1.xml" Id="R7e44b315ae30478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f7e3c9736c84587" /><Relationship Type="http://schemas.openxmlformats.org/officeDocument/2006/relationships/notesMaster" Target="/ppt/notesMasters/notesMaster1.xml" Id="R78abb12ddebc4e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00d156990544615" /><Relationship Type="http://schemas.openxmlformats.org/officeDocument/2006/relationships/notesMaster" Target="/ppt/notesMasters/notesMaster1.xml" Id="R2c9ea3c3fa834c8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44b61b433554ada" /><Relationship Type="http://schemas.openxmlformats.org/officeDocument/2006/relationships/notesMaster" Target="/ppt/notesMasters/notesMaster1.xml" Id="Rd20b43679a2b46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733570732fc44b8" /><Relationship Type="http://schemas.openxmlformats.org/officeDocument/2006/relationships/notesMaster" Target="/ppt/notesMasters/notesMaster1.xml" Id="Rd0645a2abf27448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57ec2a4aa5e4b1a" /><Relationship Type="http://schemas.openxmlformats.org/officeDocument/2006/relationships/notesMaster" Target="/ppt/notesMasters/notesMaster1.xml" Id="Rc9732803e0254ef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0b63aa7b7ed4dba" /><Relationship Type="http://schemas.openxmlformats.org/officeDocument/2006/relationships/notesMaster" Target="/ppt/notesMasters/notesMaster1.xml" Id="Rd734745de051449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10f9d21b2a24ff5" /><Relationship Type="http://schemas.openxmlformats.org/officeDocument/2006/relationships/notesMaster" Target="/ppt/notesMasters/notesMaster1.xml" Id="R7b5aab1a6d8b446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8a92c7b892460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b2a0a7d964740a0" /><Relationship Type="http://schemas.openxmlformats.org/officeDocument/2006/relationships/slideLayout" Target="/ppt/slideLayouts/slideLayout1.xml" Id="R4b804a1fc0b64a1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804a1fc0b64a1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79383b2eac4478" /><Relationship Type="http://schemas.openxmlformats.org/officeDocument/2006/relationships/notesSlide" Target="/ppt/notesSlides/notesSlide1.xml" Id="Rb629aae806e040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413f39d10f439c" /><Relationship Type="http://schemas.openxmlformats.org/officeDocument/2006/relationships/notesSlide" Target="/ppt/notesSlides/notesSlide2.xml" Id="R4c7fd3cded80439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0a9c5c41904c80" /><Relationship Type="http://schemas.openxmlformats.org/officeDocument/2006/relationships/notesSlide" Target="/ppt/notesSlides/notesSlide3.xml" Id="R6164045d5856492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dac98dc2ce4bfd" /><Relationship Type="http://schemas.openxmlformats.org/officeDocument/2006/relationships/notesSlide" Target="/ppt/notesSlides/notesSlide4.xml" Id="R05d66b31e5254c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4ddea058c4493b" /><Relationship Type="http://schemas.openxmlformats.org/officeDocument/2006/relationships/chart" Target="/ppt/slides/charts/chart1.xml" Id="R4281245fd51a406f" /><Relationship Type="http://schemas.openxmlformats.org/officeDocument/2006/relationships/notesSlide" Target="/ppt/notesSlides/notesSlide5.xml" Id="Rca563969a0284af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72cf1201e34a52" /><Relationship Type="http://schemas.openxmlformats.org/officeDocument/2006/relationships/notesSlide" Target="/ppt/notesSlides/notesSlide6.xml" Id="Rdb698f5657dd4b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8b79a9a68e4469" /><Relationship Type="http://schemas.openxmlformats.org/officeDocument/2006/relationships/chart" Target="/ppt/slides/charts/chart2.xml" Id="R49ebf332c2644ab4" /><Relationship Type="http://schemas.openxmlformats.org/officeDocument/2006/relationships/notesSlide" Target="/ppt/notesSlides/notesSlide7.xml" Id="Rce71fc240fd844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f01b6b74194a82" /><Relationship Type="http://schemas.openxmlformats.org/officeDocument/2006/relationships/notesSlide" Target="/ppt/notesSlides/notesSlide8.xml" Id="R45aebb6f3434425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161636560c48e4" /><Relationship Type="http://schemas.openxmlformats.org/officeDocument/2006/relationships/notesSlide" Target="/ppt/notesSlides/notesSlide9.xml" Id="R1f3d907dcffe4bc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c1698e094b420d" /><Relationship Type="http://schemas.openxmlformats.org/officeDocument/2006/relationships/notesSlide" Target="/ppt/notesSlides/notesSlide10.xml" Id="R8cb48af817f64eb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713c5c4781420b" /><Relationship Type="http://schemas.openxmlformats.org/officeDocument/2006/relationships/notesSlide" Target="/ppt/notesSlides/notesSlide11.xml" Id="R748a5b98bfe9409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8c654e17d0443e" /><Relationship Type="http://schemas.openxmlformats.org/officeDocument/2006/relationships/notesSlide" Target="/ppt/notesSlides/notesSlide12.xml" Id="Rc59dbc7fae7e45b6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Turnaround</c:v>
          </c:tx>
          <c:spPr>
            <a:solidFill xmlns:a="http://schemas.openxmlformats.org/drawingml/2006/main">
              <a:srgbClr val="6DCBF4"/>
            </a:solidFill>
          </c:spPr>
          <c:cat>
            <c:strLit>
              <c:ptCount val="4"/>
              <c:pt idx="0">
                <c:v>RR</c:v>
              </c:pt>
              <c:pt idx="1">
                <c:v>SJF</c:v>
              </c:pt>
              <c:pt idx="2">
                <c:v>Priority</c:v>
              </c:pt>
              <c:pt idx="3">
                <c:v>MLFQ</c:v>
              </c:pt>
            </c:strLit>
          </c:cat>
          <c:val>
            <c:numLit>
              <c:formatCode>General</c:formatCode>
              <c:ptCount val="4"/>
              <c:pt idx="0">
                <c:v>185</c:v>
              </c:pt>
              <c:pt idx="1">
                <c:v>137</c:v>
              </c:pt>
              <c:pt idx="2">
                <c:v>155</c:v>
              </c:pt>
              <c:pt idx="3">
                <c:v>191</c:v>
              </c:pt>
            </c:numLit>
          </c:val>
        </c:ser>
        <c:ser>
          <c:idx val="1"/>
          <c:order val="1"/>
          <c:tx>
            <c:v>Waiting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RR</c:v>
              </c:pt>
              <c:pt idx="1">
                <c:v>SJF</c:v>
              </c:pt>
              <c:pt idx="2">
                <c:v>Priority</c:v>
              </c:pt>
              <c:pt idx="3">
                <c:v>MLFQ</c:v>
              </c:pt>
            </c:strLit>
          </c:cat>
          <c:val>
            <c:numLit>
              <c:formatCode>General</c:formatCode>
              <c:ptCount val="4"/>
              <c:pt idx="0">
                <c:v>133</c:v>
              </c:pt>
              <c:pt idx="1">
                <c:v>85</c:v>
              </c:pt>
              <c:pt idx="2">
                <c:v>103</c:v>
              </c:pt>
              <c:pt idx="3">
                <c:v>139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2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50"/>
      </c:valAx>
    </c:plotArea>
    <c:legend>
      <c:legendPos val="b"/>
      <c:overlay val="0"/>
    </c:legend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FIFO</c:v>
          </c:tx>
          <c:spPr>
            <a:solidFill xmlns:a="http://schemas.openxmlformats.org/drawingml/2006/main">
              <a:srgbClr val="6DCBF4"/>
            </a:solidFill>
            <a:ln xmlns:a="http://schemas.openxmlformats.org/drawingml/2006/main" w="28575">
              <a:solidFill>
                <a:srgbClr val="6DCBF4"/>
              </a:solidFill>
            </a:ln>
          </c:spPr>
          <c:marker>
            <c:symbol val="none"/>
          </c:marker>
          <c:cat>
            <c:strLit>
              <c:ptCount val="4"/>
              <c:pt idx="0">
                <c:v>1 KiB</c:v>
              </c:pt>
              <c:pt idx="1">
                <c:v>2 KiB</c:v>
              </c:pt>
              <c:pt idx="2">
                <c:v>4 KiB</c:v>
              </c:pt>
              <c:pt idx="3">
                <c:v>8 KiB</c:v>
              </c:pt>
            </c:strLit>
          </c:cat>
          <c:val>
            <c:numLit>
              <c:formatCode>General</c:formatCode>
              <c:ptCount val="4"/>
              <c:pt idx="0">
                <c:v>6937</c:v>
              </c:pt>
              <c:pt idx="1">
                <c:v>4735</c:v>
              </c:pt>
              <c:pt idx="2">
                <c:v>2666</c:v>
              </c:pt>
              <c:pt idx="3">
                <c:v>1378</c:v>
              </c:pt>
            </c:numLit>
          </c:val>
        </c:ser>
        <c:ser>
          <c:idx val="1"/>
          <c:order val="1"/>
          <c:tx>
            <c:v>LRU</c:v>
          </c:tx>
          <c:spPr>
            <a:solidFill xmlns:a="http://schemas.openxmlformats.org/drawingml/2006/main">
              <a:srgbClr val="3D8DFF"/>
            </a:solidFill>
            <a:ln xmlns:a="http://schemas.openxmlformats.org/drawingml/2006/main" w="28575">
              <a:solidFill>
                <a:srgbClr val="3D8DFF"/>
              </a:solidFill>
            </a:ln>
          </c:spPr>
          <c:marker>
            <c:symbol val="none"/>
          </c:marker>
          <c:cat>
            <c:strLit>
              <c:ptCount val="4"/>
              <c:pt idx="0">
                <c:v>1 KiB</c:v>
              </c:pt>
              <c:pt idx="1">
                <c:v>2 KiB</c:v>
              </c:pt>
              <c:pt idx="2">
                <c:v>4 KiB</c:v>
              </c:pt>
              <c:pt idx="3">
                <c:v>8 KiB</c:v>
              </c:pt>
            </c:strLit>
          </c:cat>
          <c:val>
            <c:numLit>
              <c:formatCode>General</c:formatCode>
              <c:ptCount val="4"/>
              <c:pt idx="0">
                <c:v>6791</c:v>
              </c:pt>
              <c:pt idx="1">
                <c:v>4047</c:v>
              </c:pt>
              <c:pt idx="2">
                <c:v>1655</c:v>
              </c:pt>
              <c:pt idx="3">
                <c:v>1064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2000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88AEE6-355B-429B-8C0C-D535B28E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CSE335  ·  SUMMER 2026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3CC3215-C2AD-4702-9482-8B83D7FC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33550"/>
            <a:ext cx="99060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Scheduling, paging,</a:t>
            </a:r>
          </a:p>
          <a:p xmlns:a="http://schemas.openxmlformats.org/drawingml/2006/main">
            <a:pPr algn="l">
              <a:buNone/>
              <a:defRPr sz="4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extent-aware storage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BB6C79-F454-4482-906E-543A8D578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29050"/>
            <a:ext cx="447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AE9859-741A-4F89-9CEC-48C0043F2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Three reproducible experiments inside MINIX 3.3.0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ED11A8-E754-47C1-8B7D-A10EB1CE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912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Jana · Mohamed · Abdelrahman · Mostafa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04728C-D750-4AD5-B57E-253B9221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150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Source · tests · report · presentation</a:t>
            </a:r>
          </a:p>
        </p:txBody>
      </p:sp>
    </p:spTree>
    <p:extLst>
      <p:ext uri="{BB962C8B-B14F-4D97-AF65-F5344CB8AC3E}">
        <p14:creationId xmlns:p14="http://schemas.microsoft.com/office/powerpoint/2010/main" val="11909162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7D9DA1-0704-47B1-84E1-BAFF8DA9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PROJECT SCOPE</a:t>
            </a:r>
          </a:p>
        </p:txBody>
      </p:sp>
      <p:sp>
        <p:nvSpPr>
          <p:cNvPr id="2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6C5C68E9-33BB-4B91-83A8-52BF1E551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clean baseline, three controlled interventions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49AAF0-B2CA-46DA-AA58-4F031450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DD5FDA-FED8-4D31-AFCB-4350C8A7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5DE6A1-E4F7-4C49-A83A-C1490FE5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4050"/>
            <a:ext cx="34290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498E2A-853E-44B6-AA90-6C251368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382F3D-64E6-4A2F-BA73-73310D4A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 policies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FBC7DB-D220-49E4-8500-A20E22AC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57525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RR · SJF · priority · MLFQ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6A44C2-854C-4E74-B71D-9B4A0FDC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924050"/>
            <a:ext cx="34290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6FBD5E-35E2-4755-8B3F-E7DE068AE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145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E7EB84-E688-4283-8070-AA62ADF6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47925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 policies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955AA2-B507-4A7C-87EB-416B84EF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57525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FIFO · exact LRU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2D59D1-EED7-4F5B-83D0-34333EBF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924050"/>
            <a:ext cx="34290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BC1D44-B17C-4CE6-B48E-2707ADCE0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145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7C0C52-5A31-4464-8A24-E8F1362BC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47925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6 extents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586AC6-43D7-464A-A47C-951C8710B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57525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1 · 2 · 4 · 8 · 16 · 32 blocks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92210C-ECB1-40C2-B0AD-2B68D5A0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529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Baseline tag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CC7367-2E13-407A-A24E-839E30E69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386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baseline-v3.3.0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2D747-3D1B-4B66-8B7F-32814BA00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52900"/>
            <a:ext cx="73533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experiment reads text configuration and writes CSV. All three native matrices and their validation log are archived with the submission.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C00F3C-7BC0-40E6-BAF6-0AAF54C3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Repository history makes every change reviewable against the untouched release.</a:t>
            </a:r>
          </a:p>
        </p:txBody>
      </p:sp>
    </p:spTree>
    <p:extLst>
      <p:ext uri="{BB962C8B-B14F-4D97-AF65-F5344CB8AC3E}">
        <p14:creationId xmlns:p14="http://schemas.microsoft.com/office/powerpoint/2010/main" val="6004860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9B747E-32F4-43EE-A04E-0E1F4792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ARCHITECTURE</a:t>
            </a:r>
          </a:p>
        </p:txBody>
      </p:sp>
      <p:sp>
        <p:nvSpPr>
          <p:cNvPr id="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55EB2781-E76C-44AA-8084-C0379E446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design respects MINIX subsystem boundaries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2E3DA6-45EE-454F-90FF-7025E093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B5CE68-E77D-4103-B6CF-B6A2C07BD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5D6021-9472-4207-92CE-2C003B197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3524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9931B3-2758-450A-A86B-071BAAD9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REAL WORKERS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FFD069-CB31-4589-AD76-2CFA2A876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30670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fork + pipes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controlled dispatch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logical policy metrics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wall-time confirmation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501A79-EE9F-4E17-A459-AD6AE602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828800"/>
            <a:ext cx="3524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037DD6-EBED-40DA-A412-04C724EF3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0764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SOFTWARE VM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975EA1-9BEC-496F-BD8C-C2AE529E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609850"/>
            <a:ext cx="30670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sparse hierarchy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byte-address trace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FIFO / LRU frames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native CSV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1F7AD2-B0DC-474A-94C3-36FAC944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28800"/>
            <a:ext cx="3524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9A9547-87C7-4E9F-B4E2-C780FD11A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764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REAL MFS PATH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764672-876B-4172-A175-858BA777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09850"/>
            <a:ext cx="30670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zone bitmap scan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exact allocation origin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safe fallback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unmount counters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F0CE05-B7B7-451B-8A58-A1B6A791F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7372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Controlled experiment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1E6A0D-188E-4EE4-BC07-7520AD67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3149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Production allocation policy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493CE4-4A8D-4E19-91D9-0359F9222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The configurable paging hierarchy does not claim to reprogram x86 MMU geometry.</a:t>
            </a:r>
          </a:p>
        </p:txBody>
      </p:sp>
    </p:spTree>
    <p:extLst>
      <p:ext uri="{BB962C8B-B14F-4D97-AF65-F5344CB8AC3E}">
        <p14:creationId xmlns:p14="http://schemas.microsoft.com/office/powerpoint/2010/main" val="6316988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A94AF7-3A95-4E6D-BB0B-6253FB4E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1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117745A9-1FCA-46CD-A7AB-5C5D8601F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Real child processes make policy effects observable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69A4E0-A97A-4BFD-A5F7-A0AF7E9F4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F4D591-008D-430B-BEE3-512DB6AE2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81B33C-EBF6-49D1-9AFB-35378E96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09750"/>
            <a:ext cx="2914650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1FC3FC-8978-4CD5-91A6-75F514AD7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DISPATCHER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F0CF34-8F4E-49F3-A676-5E436C73D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23431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select policy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advance logical time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record metrics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D0B4B2-288A-456F-A3BE-36A19E24E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5260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6D2BD1-EE86-4ED4-9795-5A1728385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9050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WORKER P1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C95531-A7A4-4DBA-B6C9-194D44F5F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907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CPU work → reply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6652D7-AF11-4DF4-9DE8-BF350463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14312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60F9A9-071B-4DE3-AB63-46E82789E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7655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D5C6CA-C315-44F8-8C93-0294CAF24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0289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WORKER P2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6888F4-F149-4CA7-8F06-F7A0CD12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3147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CPU work → reply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EAE162-4B16-4AA8-A27B-4C64DFC8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26707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2FE517-DB86-423D-9068-6304D792E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0050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DE9718-016E-4B73-B297-BD6DB6B8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1529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WORKER P3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01EA3B-9BCD-4011-8077-CE5D11BE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4386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CPU work → reply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26E7E8-735A-4D9C-A230-3EFADF9E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39102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BDF7AC-70D3-47AD-8A10-CA95B941D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859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Logical clock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5B0C48-514C-4E4F-BB48-192C30AB3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81250"/>
            <a:ext cx="2952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turnaround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waiting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response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makespan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dispatches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49B9FD-A432-4214-BEF5-89BFF8BA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6101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Wall clock confirms actual execution; it does not distort logical policy metrics.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C56731-A6B8-4A54-83F1-0014F3DE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Children exist from startup but become eligible only at their configured logical arrival.</a:t>
            </a:r>
          </a:p>
        </p:txBody>
      </p:sp>
    </p:spTree>
    <p:extLst>
      <p:ext uri="{BB962C8B-B14F-4D97-AF65-F5344CB8AC3E}">
        <p14:creationId xmlns:p14="http://schemas.microsoft.com/office/powerpoint/2010/main" val="6202844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499ACB-35A5-4B33-837C-DAD2A0ED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1 · NATIVE MINIX RESULT</a:t>
            </a:r>
          </a:p>
        </p:txBody>
      </p:sp>
      <p:sp>
        <p:nvSpPr>
          <p:cNvPr id="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6ED3D62E-9875-487A-ACE5-03FB12D4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SJF minimizes mean waiting on the known workload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F48370-E27F-4BDB-ACBF-7DF36C179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AEB2D3-2F3D-4787-A50F-916AF360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457200" y="1657350"/>
          <a:ext xmlns:a="http://schemas.openxmlformats.org/drawingml/2006/main" cx="69532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281245fd51a406f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D6C5ED-966B-425B-9292-4AF4F543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90700"/>
            <a:ext cx="32575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7933DD-64D0-4D67-B3FD-DADA02E8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81200"/>
            <a:ext cx="2838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FASTEST RESPONSE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B7E5C5-176C-42A5-868C-C789D4265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14575"/>
            <a:ext cx="2838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 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8486F4-A849-475A-AE5A-F2156324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24175"/>
            <a:ext cx="283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MLFQ average response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446B3A-F47D-4B10-A2FB-695035FD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752850"/>
            <a:ext cx="32575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B0F035-1DF6-4487-B9FB-2217E6D0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43350"/>
            <a:ext cx="2838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FEWEST DISPATCHES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5385D6-D1DF-43A7-92BE-A4C6B682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76725"/>
            <a:ext cx="2838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66BAD8-2863-4304-BFDE-0228A03E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86325"/>
            <a:ext cx="283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SJF and priority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92C843-4C86-4998-8B15-E9414CAC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Measured from known.conf in MINIX; test_known.sh verified the CSV.</a:t>
            </a:r>
          </a:p>
        </p:txBody>
      </p:sp>
    </p:spTree>
    <p:extLst>
      <p:ext uri="{BB962C8B-B14F-4D97-AF65-F5344CB8AC3E}">
        <p14:creationId xmlns:p14="http://schemas.microsoft.com/office/powerpoint/2010/main" val="19659381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C61F86-0A12-477C-9689-E5E164D3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2</a:t>
            </a:r>
          </a:p>
        </p:txBody>
      </p:sp>
      <p:sp>
        <p:nvSpPr>
          <p:cNvPr id="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FE0874D4-0749-4EEF-B059-49043529C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Address geometry is configurable—and validated exactly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5AA40D-F793-4EF9-8110-4E66C608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6BFDA2-5B8D-44F1-ABFA-FEF99E58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C8D2D9-AAF9-4A0D-808B-05BE9E299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33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32-bit virtual address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EB98EB-8432-4DB4-A1A0-BF972106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4A71F8-244A-414E-8EC1-5BDFDA31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3219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LEVEL 1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10 bits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E9FDCF-E35A-4C38-99FE-5073B0A0F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860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34F497-7FCC-4472-9628-7D5212DC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71750"/>
            <a:ext cx="3219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LEVEL 2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10 bits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E1CED2-4894-4B3A-A6B1-D90983F2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86000"/>
            <a:ext cx="4000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6D65D1-B104-4324-85E6-B9AC7769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71750"/>
            <a:ext cx="3581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PAGE OFFSET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12 bits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ECC91E-830D-4480-B096-0F864171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52850"/>
            <a:ext cx="727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virtual page number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22FBE1-B21A-4C4F-8700-B8875A48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528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byte offset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71530F-B3CF-4E17-BA67-1E0ACD217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196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FFF676-589C-45E6-B1EF-23F9FFD3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625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Invariant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486B83-3F10-406E-9D48-7DFC5FF8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9582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Σ level bits + log₂(page size) = address bits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423ABD-4FCB-4F9F-AB06-23D90635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Sparse nodes are allocated only for hierarchy paths touched by the byte-address trace.</a:t>
            </a:r>
          </a:p>
        </p:txBody>
      </p:sp>
    </p:spTree>
    <p:extLst>
      <p:ext uri="{BB962C8B-B14F-4D97-AF65-F5344CB8AC3E}">
        <p14:creationId xmlns:p14="http://schemas.microsoft.com/office/powerpoint/2010/main" val="36845095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EEECF9-3BD9-4A7B-8188-EC944BFF5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2 · NATIVE MINIX MATRIX</a:t>
            </a:r>
          </a:p>
        </p:txBody>
      </p:sp>
      <p:sp>
        <p:nvSpPr>
          <p:cNvPr id="2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F8715F19-4BC0-4DE7-9DE0-BD97031B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Larger pages reduce faults for this fixed-byte locality trace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133E0B-D9BB-4C0B-A14D-97E0AECEE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D66FA6-03AB-470E-A68A-E33EC890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457200" y="1657350"/>
          <a:ext xmlns:a="http://schemas.openxmlformats.org/drawingml/2006/main" cx="7524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9ebf332c2644ab4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88B49C-23E5-4227-8DC2-4AC8C434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847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it means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8FEF7A-CD57-42DB-8105-0210D81EE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2410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Each frame covers more of the same byte working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LRU benefits more because the trace has locality.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does not prove that the largest page is universally best.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559F59-6289-4BA6-9102-1344C35C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64 simulated frames · 10,000 references · measured in the native MINIX matrix.</a:t>
            </a:r>
          </a:p>
        </p:txBody>
      </p:sp>
    </p:spTree>
    <p:extLst>
      <p:ext uri="{BB962C8B-B14F-4D97-AF65-F5344CB8AC3E}">
        <p14:creationId xmlns:p14="http://schemas.microsoft.com/office/powerpoint/2010/main" val="3358049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72A751-95C8-4FF6-B41B-53C246BD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3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1BEFECA1-0733-4A37-82A3-075B1568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MFS prefers a free run without changing its disk format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63D25D-EB6D-4EFC-8D1B-D7E104B73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8530E0-E0FB-45E3-9C84-B9B02D8E7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CD7C8E-FE0B-490B-B49E-400D7256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717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A9DFFA-247C-4268-81BC-49077C2A6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943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WRITE NEEDS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NEW ZONE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F6CDF-26FC-40D5-8888-C8BCB3A2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000375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E1B98A-E183-454F-82A5-C6AE7AA78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1717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1532E6-8EE6-46E9-8D76-9CFCEAB6A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90800"/>
            <a:ext cx="1943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SCAN BITMAP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N FREE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9AC83C-A656-464C-AE8F-3B34C476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000375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1C58D5-8E26-49F7-A15D-77A854B3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F3289E-1481-441A-8438-3F9169C7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90800"/>
            <a:ext cx="1943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ALLOCATE AT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EXACT ORIGIN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245BE2-A318-492B-867E-0C23BE7C8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000375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1FD3F1-E511-45C8-8187-275EFD944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1717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7137D6-6014-4DC6-A87B-6DD9FB343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90800"/>
            <a:ext cx="1943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BACK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IF N/A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93E5A9-DAD5-4AED-8367-5392AEDB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Consistency rule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102AA3-08C9-4B14-A0BA-A67818B1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381500"/>
            <a:ext cx="8439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scan is read-only. Only the original allocator marks a zone allocated, so there are no invisible reservations to leak after a crash.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243183-BAA0-4561-8D44-6ED08CB0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219700"/>
            <a:ext cx="8439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On-disk inode and indirect-zone structures remain unchanged.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740518-06BD-4B3B-BE6F-9547E1B16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mfs_extent_size=1 preserves stock behavior; allowed range is 1–1,024 zones.</a:t>
            </a:r>
          </a:p>
        </p:txBody>
      </p:sp>
    </p:spTree>
    <p:extLst>
      <p:ext uri="{BB962C8B-B14F-4D97-AF65-F5344CB8AC3E}">
        <p14:creationId xmlns:p14="http://schemas.microsoft.com/office/powerpoint/2010/main" val="15232795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FEA0394-514F-46F1-8401-D28CC5139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3 · BENCHMARK</a:t>
            </a:r>
          </a:p>
        </p:txBody>
      </p:sp>
      <p:sp>
        <p:nvSpPr>
          <p:cNvPr id="2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E73F7F39-4ABA-43D3-9B0D-70977044E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Correctness is measured before throughput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159220-8CFC-4B84-96DA-2043C6857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BBAF5A-A7BC-41BD-970A-403E3CB1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45A1F5-8683-444C-8D01-76CB884FC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7E90E5-6C0C-49F9-A690-3554BFA0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mkdir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386712-48BA-410A-BEC3-5AB44228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10E341-C76F-4E68-B4C3-78C6EAD4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9F2B49-9968-42DC-B1C8-777DE5D3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create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333F3D-B1C3-4A96-9112-AD5C07B66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4E4212-3843-4EAE-8532-748E8B77A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2A92C8-34B8-4CC9-876D-13612ACEB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write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8A96AD-7498-4E7D-97CE-321684271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582B4A-2E02-4F42-8552-06A896B8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61E175-3EC9-47D9-97EA-D331504FF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fsync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BCACFE-1B9E-4167-9A60-C8F6A4335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1C894D-7208-4A95-B9DA-4421531C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6346E-2CF0-4989-9221-A9250E5D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44E25C-C61B-4287-902D-171260C0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FE8E44-7DFF-45A6-A92A-1A36E4289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34447D-AEEE-48BF-A662-42B9F9C5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01CFB4-9935-41C3-AE22-13211B59B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838B4E-1EEE-495A-ABB8-A054E284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85794D-2E3A-4817-B6C6-F92FCB77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unlink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B4BF9B-BB90-4866-941F-1CB5FBC83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460784-2B5B-4410-9360-E3E95B67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4BACCF-D71B-42CB-AA8E-26822CF8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rmdir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4B911F-4D45-43C8-942B-566A5DC71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09950"/>
            <a:ext cx="32766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05EF1D-A0C4-4678-9DBF-23EA5865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CORRECTNESS GATE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D9D7BA-F0E6-46D8-B657-DD5BEA6E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338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 errors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297F34-7A36-4C6A-AD78-596FF1392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434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byte-for-byte pattern check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12D2B4-DEDE-49CF-B72C-BA773E465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409950"/>
            <a:ext cx="32766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26B773-A466-4F68-9927-5B7ECDF5A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MATRIX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192001C-8DFA-40A7-A885-412CABA1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338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18 rows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8C23021-F597-42E1-94A9-C4A422A9B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5434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6 preferences × 3 runs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EBD8C4-9001-4735-9374-0BBF01CE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09950"/>
            <a:ext cx="32766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41876CB-A6CA-43D5-93A2-21944953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RAW METRICS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3EDBF44-8BA3-410E-8E1E-8D8A90DD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338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 clocks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45B8ED6-FDC0-4A15-819D-F6C7A28F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434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create · write · read · remove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6FC178A-70B5-46CB-8480-CD07D9A7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Run only on a disposable secondary MFS mount with matching service and benchmark extent sizes.</a:t>
            </a:r>
          </a:p>
        </p:txBody>
      </p:sp>
    </p:spTree>
    <p:extLst>
      <p:ext uri="{BB962C8B-B14F-4D97-AF65-F5344CB8AC3E}">
        <p14:creationId xmlns:p14="http://schemas.microsoft.com/office/powerpoint/2010/main" val="15955569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20B5942-9DCF-4C44-8831-AC12B763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VERIFICATION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AE884D5C-5F37-47AB-9CE0-36CFC9763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Three smoke tests guard the experiment matrices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A0E12E-02A0-4ABC-949D-4624749B2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8EC502-6E7F-4A0D-A498-7FF17E5E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0B758A-8896-4488-8E96-50BA0942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2686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D706B7-A8E4-49C0-B4E5-BD4938EAF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2405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AREA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83B9E8-2376-466C-A4AD-251A42D46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752600"/>
            <a:ext cx="2876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B6D5D0-AE34-4118-B937-7E659976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24050"/>
            <a:ext cx="2609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ORACLE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6386D8-B952-4125-96D1-5E08D64F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752600"/>
            <a:ext cx="3162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3F5F31-088A-44C1-B02A-71A1D567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24050"/>
            <a:ext cx="2895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GATE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7200D7-2C90-4120-BC89-61526E18D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752600"/>
            <a:ext cx="2552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1816F3-6700-4D90-B58A-7B69F6B6E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9240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SCRIPT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448477-F005-45F8-8B96-046E7989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2686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F9E8B6-37F2-4AEB-9B91-2CC848FA6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14600"/>
            <a:ext cx="2419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Scheduling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5C4A66-B3E6-473E-A726-FAC55F398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86000"/>
            <a:ext cx="2876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9AD307-0EF6-4182-8EAC-41CBE7B48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514600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Known averages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3A891A-5555-4837-961D-A937BB6B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286000"/>
            <a:ext cx="3162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C3E8BA-A014-44A9-9B09-9A750E49B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14600"/>
            <a:ext cx="289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CSV rows + child exit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9BCB33-765A-4671-AA5F-933FC1663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286000"/>
            <a:ext cx="2552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0FE5D1-E334-4FCD-8552-5C7536827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146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test_known.sh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F13D5D-5B7C-40A5-B754-FFBE0D58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62300"/>
            <a:ext cx="2686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F43C69-B559-40D2-9442-98EFD396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90900"/>
            <a:ext cx="2419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Paging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38B43B-C55B-41E4-8445-E48986B4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62300"/>
            <a:ext cx="2876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BA1EB0-24A6-4BAB-B8BA-37677040A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390900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Known reference string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F93796-FB24-4A29-B53E-C91F7D75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62300"/>
            <a:ext cx="3162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8BE558-11CF-48C8-A9A8-936151E1D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90900"/>
            <a:ext cx="289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FIFO / LRU fault totals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C29C82-A736-486B-8CEF-7AFD75267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62300"/>
            <a:ext cx="2552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10E3D7-118B-4AFC-A1A1-4663DB9F3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3909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test_known.sh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0ED9B9-702D-48C7-BF82-D5AAF41F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38600"/>
            <a:ext cx="2686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52FD03-3277-4408-9691-63210A99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67200"/>
            <a:ext cx="2419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Extents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5D6577-8E0E-427C-A22C-CA1208F64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38600"/>
            <a:ext cx="2876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6477D0-5DA3-4947-87D2-28445E5A6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267200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Two real file runs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4F916D-1062-4678-8256-773E1371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038600"/>
            <a:ext cx="3162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BFBEF6-AF5A-4DC6-98C0-B1F99A37F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267200"/>
            <a:ext cx="289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zero verification errors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0275ABF-12E6-4E23-8BA9-0CB38AC03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038600"/>
            <a:ext cx="2552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C13F69C-8188-4965-9EED-9BE97200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2672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test_known.sh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F07A31-BFF8-4401-ACDD-934B5F7A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Fail fast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4D9329C-0D3C-40D2-ACC2-91F6FB7C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181600"/>
            <a:ext cx="954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 performance matrix is accepted after a compile failure, oracle mismatch, abnormal child exit, or nonzero data-verification count.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7870A71-1CA6-40FC-AB3C-CCE96CEBC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Raw CSV and console logs are preserved before summaries or graphs are created.</a:t>
            </a:r>
          </a:p>
        </p:txBody>
      </p:sp>
    </p:spTree>
    <p:extLst>
      <p:ext uri="{BB962C8B-B14F-4D97-AF65-F5344CB8AC3E}">
        <p14:creationId xmlns:p14="http://schemas.microsoft.com/office/powerpoint/2010/main" val="11007442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4B8142-E6D5-44D6-9E2B-BA4DFD6F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SUBMISSION STATUS</a:t>
            </a:r>
          </a:p>
        </p:txBody>
      </p:sp>
      <p:sp>
        <p:nvSpPr>
          <p:cNvPr id="2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0B3DBEA2-B975-4469-9108-542BB8487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Native verification is complete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F53B71-8F02-4F03-8B16-AB069D66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11ADE9-EEC8-4865-92CA-72A2E885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413F23-722D-4112-BF5B-66172C427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3333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1EBE26-36E4-4AE9-A904-2B390DBE2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4310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5E5BC8-78DA-40EB-9F83-C0F7FBC7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76475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3E5773-255C-4430-9DDA-CE12F7D2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860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three requirements committed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F6D5ED-6761-45FE-B6C3-54F485642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52600"/>
            <a:ext cx="3333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5EA181-BDDE-4B70-994A-73E2C99E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194310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76FCB5-43F5-4F28-890A-9EF6751ED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276475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9,137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30D765-434D-46F9-A2FC-17CEE7CB8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8860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words · 30 rendered pages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5B7E0B-9136-4E51-9122-3435762F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752600"/>
            <a:ext cx="3333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9146E6-5D37-4FC1-99A3-55AAE7D4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4310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VM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DE11C9-ECEF-47C1-9021-F430778F0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76475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15CF33-1641-4CFD-BF64-E4411B07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860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3 tests · 170 data rows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C4388D-44F3-49A8-9500-0C2B014F6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38600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Archived native 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673E4D-9585-4718-8D36-504280BA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33900"/>
            <a:ext cx="61912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  scheduling matrix · 80 rows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  paging matrix · 72 rows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  extent matrix · 18 rows · zero errors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  MFS preferred-run hits · zero fallbacks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113942-3697-4BAF-A8A5-10807BFE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076700"/>
            <a:ext cx="43243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6A398A-B564-4E09-B7BD-865FFEDE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862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VALIDATED PLATFORM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5965AE-A31E-4405-83E9-684E1E030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68630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MINIX 3.3.0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i386 · VirtualBox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156586-53F3-4045-B6A4-653FBA68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Raw CSV, checksums, test output, and MFS logs are included.</a:t>
            </a:r>
          </a:p>
        </p:txBody>
      </p:sp>
    </p:spTree>
    <p:extLst>
      <p:ext uri="{BB962C8B-B14F-4D97-AF65-F5344CB8AC3E}">
        <p14:creationId xmlns:p14="http://schemas.microsoft.com/office/powerpoint/2010/main" val="5441969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50A57F-1AEA-4661-83F1-A61FBECD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FINAL TAKEAWAY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FE2324-4316-4548-A15F-67C06D3E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99060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Policy only means something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workload, mechanism,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evidence stay aligned.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B8C871-4A84-492E-B029-BE8517969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4815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8824F4-DE3C-4F5D-9964-911C2F77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48200"/>
            <a:ext cx="9906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Real processes. Configurable page structures. Real MFS allocation. Reproducible CSV.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1DAA4A-59EC-4F61-8CD9-FCDE9269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2455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Ready to submit: final commit, source archive, report, slides, and raw evidence.</a:t>
            </a:r>
          </a:p>
        </p:txBody>
      </p:sp>
    </p:spTree>
    <p:extLst>
      <p:ext uri="{BB962C8B-B14F-4D97-AF65-F5344CB8AC3E}">
        <p14:creationId xmlns:p14="http://schemas.microsoft.com/office/powerpoint/2010/main" val="13762694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2026-08-18T16:58:40.1440000Z</dcterms:created>
  <dcterms:modified xsi:type="dcterms:W3CDTF">2026-08-18T16:58:40.1440000Z</dcterms:modified>
</coreProperties>
</file>